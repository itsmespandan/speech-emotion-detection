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119733"/>
            <a:ext cx="9445523" cy="268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EmoSense: Multimodal Emotional Intelligence for Everyday Mental Wellbeing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6145711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Understand voice, adapt conversation, guide support. A conversational AI that listens to how you feel, not just what you say.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2101" y="1211761"/>
            <a:ext cx="14739490" cy="8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Challenge in Current Mental Health Support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7338" y="2471147"/>
            <a:ext cx="8159353" cy="3182836"/>
            <a:chOff x="0" y="0"/>
            <a:chExt cx="10879138" cy="42437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0866374" cy="4231005"/>
            </a:xfrm>
            <a:custGeom>
              <a:avLst/>
              <a:gdLst/>
              <a:ahLst/>
              <a:cxnLst/>
              <a:rect r="r" b="b" t="t" l="l"/>
              <a:pathLst>
                <a:path h="4231005" w="10866374">
                  <a:moveTo>
                    <a:pt x="0" y="141097"/>
                  </a:moveTo>
                  <a:cubicBezTo>
                    <a:pt x="0" y="63246"/>
                    <a:pt x="63373" y="0"/>
                    <a:pt x="141351" y="0"/>
                  </a:cubicBezTo>
                  <a:lnTo>
                    <a:pt x="10725023" y="0"/>
                  </a:lnTo>
                  <a:cubicBezTo>
                    <a:pt x="10803128" y="0"/>
                    <a:pt x="10866374" y="63246"/>
                    <a:pt x="10866374" y="141097"/>
                  </a:cubicBezTo>
                  <a:lnTo>
                    <a:pt x="10866374" y="4089908"/>
                  </a:lnTo>
                  <a:cubicBezTo>
                    <a:pt x="10866374" y="4167886"/>
                    <a:pt x="10803001" y="4231005"/>
                    <a:pt x="10725023" y="4231005"/>
                  </a:cubicBezTo>
                  <a:lnTo>
                    <a:pt x="141351" y="4231005"/>
                  </a:lnTo>
                  <a:cubicBezTo>
                    <a:pt x="63373" y="4231132"/>
                    <a:pt x="0" y="4167886"/>
                    <a:pt x="0" y="408990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79074" cy="4243705"/>
            </a:xfrm>
            <a:custGeom>
              <a:avLst/>
              <a:gdLst/>
              <a:ahLst/>
              <a:cxnLst/>
              <a:rect r="r" b="b" t="t" l="l"/>
              <a:pathLst>
                <a:path h="4243705" w="10879074">
                  <a:moveTo>
                    <a:pt x="0" y="147447"/>
                  </a:moveTo>
                  <a:cubicBezTo>
                    <a:pt x="0" y="66040"/>
                    <a:pt x="66167" y="0"/>
                    <a:pt x="147701" y="0"/>
                  </a:cubicBezTo>
                  <a:lnTo>
                    <a:pt x="10731373" y="0"/>
                  </a:lnTo>
                  <a:lnTo>
                    <a:pt x="10731373" y="6350"/>
                  </a:lnTo>
                  <a:lnTo>
                    <a:pt x="10731373" y="0"/>
                  </a:lnTo>
                  <a:cubicBezTo>
                    <a:pt x="10812907" y="0"/>
                    <a:pt x="10879074" y="66040"/>
                    <a:pt x="10879074" y="147447"/>
                  </a:cubicBezTo>
                  <a:lnTo>
                    <a:pt x="10872724" y="147447"/>
                  </a:lnTo>
                  <a:lnTo>
                    <a:pt x="10879074" y="147447"/>
                  </a:lnTo>
                  <a:lnTo>
                    <a:pt x="10879074" y="4096258"/>
                  </a:lnTo>
                  <a:lnTo>
                    <a:pt x="10872724" y="4096258"/>
                  </a:lnTo>
                  <a:lnTo>
                    <a:pt x="10879074" y="4096258"/>
                  </a:lnTo>
                  <a:cubicBezTo>
                    <a:pt x="10879074" y="4177792"/>
                    <a:pt x="10812907" y="4243705"/>
                    <a:pt x="10731373" y="4243705"/>
                  </a:cubicBezTo>
                  <a:lnTo>
                    <a:pt x="10731373" y="4237355"/>
                  </a:lnTo>
                  <a:lnTo>
                    <a:pt x="10731373" y="4243705"/>
                  </a:lnTo>
                  <a:lnTo>
                    <a:pt x="147701" y="4243705"/>
                  </a:lnTo>
                  <a:lnTo>
                    <a:pt x="147701" y="4237355"/>
                  </a:lnTo>
                  <a:lnTo>
                    <a:pt x="147701" y="4243705"/>
                  </a:lnTo>
                  <a:cubicBezTo>
                    <a:pt x="66167" y="4243832"/>
                    <a:pt x="0" y="4177792"/>
                    <a:pt x="0" y="4096258"/>
                  </a:cubicBezTo>
                  <a:lnTo>
                    <a:pt x="0" y="147447"/>
                  </a:lnTo>
                  <a:lnTo>
                    <a:pt x="6350" y="147447"/>
                  </a:lnTo>
                  <a:lnTo>
                    <a:pt x="0" y="147447"/>
                  </a:lnTo>
                  <a:moveTo>
                    <a:pt x="12700" y="147447"/>
                  </a:moveTo>
                  <a:lnTo>
                    <a:pt x="12700" y="4096258"/>
                  </a:lnTo>
                  <a:lnTo>
                    <a:pt x="6350" y="4096258"/>
                  </a:lnTo>
                  <a:lnTo>
                    <a:pt x="12700" y="4096258"/>
                  </a:lnTo>
                  <a:cubicBezTo>
                    <a:pt x="12700" y="4170680"/>
                    <a:pt x="73152" y="4231005"/>
                    <a:pt x="147701" y="4231005"/>
                  </a:cubicBezTo>
                  <a:lnTo>
                    <a:pt x="10731373" y="4231005"/>
                  </a:lnTo>
                  <a:cubicBezTo>
                    <a:pt x="10805922" y="4231005"/>
                    <a:pt x="10866374" y="4170680"/>
                    <a:pt x="10866374" y="4096258"/>
                  </a:cubicBezTo>
                  <a:lnTo>
                    <a:pt x="10866374" y="147447"/>
                  </a:lnTo>
                  <a:cubicBezTo>
                    <a:pt x="10866501" y="73025"/>
                    <a:pt x="10805922" y="12700"/>
                    <a:pt x="10731373" y="12700"/>
                  </a:cubicBezTo>
                  <a:lnTo>
                    <a:pt x="147701" y="12700"/>
                  </a:lnTo>
                  <a:lnTo>
                    <a:pt x="147701" y="6350"/>
                  </a:lnTo>
                  <a:lnTo>
                    <a:pt x="147701" y="12700"/>
                  </a:lnTo>
                  <a:cubicBezTo>
                    <a:pt x="73152" y="12700"/>
                    <a:pt x="12700" y="73025"/>
                    <a:pt x="12700" y="14744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591" y="2737399"/>
            <a:ext cx="756047" cy="756047"/>
            <a:chOff x="0" y="0"/>
            <a:chExt cx="1008062" cy="10080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7999" cy="1008126"/>
            </a:xfrm>
            <a:custGeom>
              <a:avLst/>
              <a:gdLst/>
              <a:ahLst/>
              <a:cxnLst/>
              <a:rect r="r" b="b" t="t" l="l"/>
              <a:pathLst>
                <a:path h="1008126" w="1007999">
                  <a:moveTo>
                    <a:pt x="0" y="504063"/>
                  </a:moveTo>
                  <a:cubicBezTo>
                    <a:pt x="0" y="225679"/>
                    <a:pt x="225679" y="0"/>
                    <a:pt x="504063" y="0"/>
                  </a:cubicBezTo>
                  <a:cubicBezTo>
                    <a:pt x="782447" y="0"/>
                    <a:pt x="1007999" y="225679"/>
                    <a:pt x="1007999" y="504063"/>
                  </a:cubicBezTo>
                  <a:cubicBezTo>
                    <a:pt x="1007999" y="782447"/>
                    <a:pt x="782320" y="1008126"/>
                    <a:pt x="503936" y="1008126"/>
                  </a:cubicBezTo>
                  <a:cubicBezTo>
                    <a:pt x="225552" y="1008126"/>
                    <a:pt x="0" y="782447"/>
                    <a:pt x="0" y="504063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351512" y="2945159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3" y="0"/>
                </a:lnTo>
                <a:lnTo>
                  <a:pt x="340223" y="340223"/>
                </a:lnTo>
                <a:lnTo>
                  <a:pt x="0" y="340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23" r="0" b="-972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43591" y="3698377"/>
            <a:ext cx="3150241" cy="41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Text-Only Limitation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591" y="4178941"/>
            <a:ext cx="7626848" cy="120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Most chat assistants read words but miss the emotional tone carried in voice—affecting how users actually feel versus what they type.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51156" y="2471147"/>
            <a:ext cx="8159506" cy="3182836"/>
            <a:chOff x="0" y="0"/>
            <a:chExt cx="10879341" cy="42437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10866628" cy="4231005"/>
            </a:xfrm>
            <a:custGeom>
              <a:avLst/>
              <a:gdLst/>
              <a:ahLst/>
              <a:cxnLst/>
              <a:rect r="r" b="b" t="t" l="l"/>
              <a:pathLst>
                <a:path h="4231005" w="10866628">
                  <a:moveTo>
                    <a:pt x="0" y="141097"/>
                  </a:moveTo>
                  <a:cubicBezTo>
                    <a:pt x="0" y="63246"/>
                    <a:pt x="63373" y="0"/>
                    <a:pt x="141351" y="0"/>
                  </a:cubicBezTo>
                  <a:lnTo>
                    <a:pt x="10725277" y="0"/>
                  </a:lnTo>
                  <a:cubicBezTo>
                    <a:pt x="10803382" y="0"/>
                    <a:pt x="10866628" y="63246"/>
                    <a:pt x="10866628" y="141097"/>
                  </a:cubicBezTo>
                  <a:lnTo>
                    <a:pt x="10866628" y="4089908"/>
                  </a:lnTo>
                  <a:cubicBezTo>
                    <a:pt x="10866628" y="4167886"/>
                    <a:pt x="10803255" y="4231005"/>
                    <a:pt x="10725277" y="4231005"/>
                  </a:cubicBezTo>
                  <a:lnTo>
                    <a:pt x="141351" y="4231005"/>
                  </a:lnTo>
                  <a:cubicBezTo>
                    <a:pt x="63373" y="4231132"/>
                    <a:pt x="0" y="4167886"/>
                    <a:pt x="0" y="408990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79328" cy="4243705"/>
            </a:xfrm>
            <a:custGeom>
              <a:avLst/>
              <a:gdLst/>
              <a:ahLst/>
              <a:cxnLst/>
              <a:rect r="r" b="b" t="t" l="l"/>
              <a:pathLst>
                <a:path h="4243705" w="10879328">
                  <a:moveTo>
                    <a:pt x="0" y="147447"/>
                  </a:moveTo>
                  <a:cubicBezTo>
                    <a:pt x="0" y="66040"/>
                    <a:pt x="66167" y="0"/>
                    <a:pt x="147701" y="0"/>
                  </a:cubicBezTo>
                  <a:lnTo>
                    <a:pt x="10731627" y="0"/>
                  </a:lnTo>
                  <a:lnTo>
                    <a:pt x="10731627" y="6350"/>
                  </a:lnTo>
                  <a:lnTo>
                    <a:pt x="10731627" y="0"/>
                  </a:lnTo>
                  <a:cubicBezTo>
                    <a:pt x="10813161" y="0"/>
                    <a:pt x="10879328" y="66040"/>
                    <a:pt x="10879328" y="147447"/>
                  </a:cubicBezTo>
                  <a:lnTo>
                    <a:pt x="10872978" y="147447"/>
                  </a:lnTo>
                  <a:lnTo>
                    <a:pt x="10879328" y="147447"/>
                  </a:lnTo>
                  <a:lnTo>
                    <a:pt x="10879328" y="4096258"/>
                  </a:lnTo>
                  <a:lnTo>
                    <a:pt x="10872978" y="4096258"/>
                  </a:lnTo>
                  <a:lnTo>
                    <a:pt x="10879328" y="4096258"/>
                  </a:lnTo>
                  <a:cubicBezTo>
                    <a:pt x="10879328" y="4177792"/>
                    <a:pt x="10813161" y="4243705"/>
                    <a:pt x="10731627" y="4243705"/>
                  </a:cubicBezTo>
                  <a:lnTo>
                    <a:pt x="10731627" y="4237355"/>
                  </a:lnTo>
                  <a:lnTo>
                    <a:pt x="10731627" y="4243705"/>
                  </a:lnTo>
                  <a:lnTo>
                    <a:pt x="147701" y="4243705"/>
                  </a:lnTo>
                  <a:lnTo>
                    <a:pt x="147701" y="4237355"/>
                  </a:lnTo>
                  <a:lnTo>
                    <a:pt x="147701" y="4243705"/>
                  </a:lnTo>
                  <a:cubicBezTo>
                    <a:pt x="66167" y="4243832"/>
                    <a:pt x="0" y="4177792"/>
                    <a:pt x="0" y="4096258"/>
                  </a:cubicBezTo>
                  <a:lnTo>
                    <a:pt x="0" y="147447"/>
                  </a:lnTo>
                  <a:lnTo>
                    <a:pt x="6350" y="147447"/>
                  </a:lnTo>
                  <a:lnTo>
                    <a:pt x="0" y="147447"/>
                  </a:lnTo>
                  <a:moveTo>
                    <a:pt x="12700" y="147447"/>
                  </a:moveTo>
                  <a:lnTo>
                    <a:pt x="12700" y="4096258"/>
                  </a:lnTo>
                  <a:lnTo>
                    <a:pt x="6350" y="4096258"/>
                  </a:lnTo>
                  <a:lnTo>
                    <a:pt x="12700" y="4096258"/>
                  </a:lnTo>
                  <a:cubicBezTo>
                    <a:pt x="12700" y="4170680"/>
                    <a:pt x="73152" y="4231005"/>
                    <a:pt x="147701" y="4231005"/>
                  </a:cubicBezTo>
                  <a:lnTo>
                    <a:pt x="10731627" y="4231005"/>
                  </a:lnTo>
                  <a:cubicBezTo>
                    <a:pt x="10806176" y="4231005"/>
                    <a:pt x="10866628" y="4170680"/>
                    <a:pt x="10866628" y="4096258"/>
                  </a:cubicBezTo>
                  <a:lnTo>
                    <a:pt x="10866628" y="147447"/>
                  </a:lnTo>
                  <a:cubicBezTo>
                    <a:pt x="10866628" y="73025"/>
                    <a:pt x="10806176" y="12700"/>
                    <a:pt x="10731627" y="12700"/>
                  </a:cubicBezTo>
                  <a:lnTo>
                    <a:pt x="147701" y="12700"/>
                  </a:lnTo>
                  <a:lnTo>
                    <a:pt x="147701" y="6350"/>
                  </a:lnTo>
                  <a:lnTo>
                    <a:pt x="147701" y="12700"/>
                  </a:lnTo>
                  <a:cubicBezTo>
                    <a:pt x="73152" y="12700"/>
                    <a:pt x="12700" y="73025"/>
                    <a:pt x="12700" y="14744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17409" y="2737399"/>
            <a:ext cx="756047" cy="756047"/>
            <a:chOff x="0" y="0"/>
            <a:chExt cx="1008062" cy="10080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7999" cy="1008126"/>
            </a:xfrm>
            <a:custGeom>
              <a:avLst/>
              <a:gdLst/>
              <a:ahLst/>
              <a:cxnLst/>
              <a:rect r="r" b="b" t="t" l="l"/>
              <a:pathLst>
                <a:path h="1008126" w="1007999">
                  <a:moveTo>
                    <a:pt x="0" y="504063"/>
                  </a:moveTo>
                  <a:cubicBezTo>
                    <a:pt x="0" y="225679"/>
                    <a:pt x="225679" y="0"/>
                    <a:pt x="504063" y="0"/>
                  </a:cubicBezTo>
                  <a:cubicBezTo>
                    <a:pt x="782447" y="0"/>
                    <a:pt x="1007999" y="225679"/>
                    <a:pt x="1007999" y="504063"/>
                  </a:cubicBezTo>
                  <a:cubicBezTo>
                    <a:pt x="1007999" y="782447"/>
                    <a:pt x="782320" y="1008126"/>
                    <a:pt x="503936" y="1008126"/>
                  </a:cubicBezTo>
                  <a:cubicBezTo>
                    <a:pt x="225552" y="1008126"/>
                    <a:pt x="0" y="782447"/>
                    <a:pt x="0" y="504063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9725320" y="2945159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4" y="0"/>
                </a:lnTo>
                <a:lnTo>
                  <a:pt x="340224" y="340223"/>
                </a:lnTo>
                <a:lnTo>
                  <a:pt x="0" y="3402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1943" t="0" r="-31943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17409" y="3698377"/>
            <a:ext cx="3150241" cy="41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Masked Emotions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17409" y="4178941"/>
            <a:ext cx="7626991" cy="120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People in distress often mask their true feelings with neutral or positive wording, making their emotional state invisible to text-based systems.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77338" y="5868438"/>
            <a:ext cx="8159353" cy="3182836"/>
            <a:chOff x="0" y="0"/>
            <a:chExt cx="10879138" cy="42437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10866374" cy="4231005"/>
            </a:xfrm>
            <a:custGeom>
              <a:avLst/>
              <a:gdLst/>
              <a:ahLst/>
              <a:cxnLst/>
              <a:rect r="r" b="b" t="t" l="l"/>
              <a:pathLst>
                <a:path h="4231005" w="10866374">
                  <a:moveTo>
                    <a:pt x="0" y="141097"/>
                  </a:moveTo>
                  <a:cubicBezTo>
                    <a:pt x="0" y="63246"/>
                    <a:pt x="63373" y="0"/>
                    <a:pt x="141351" y="0"/>
                  </a:cubicBezTo>
                  <a:lnTo>
                    <a:pt x="10725023" y="0"/>
                  </a:lnTo>
                  <a:cubicBezTo>
                    <a:pt x="10803128" y="0"/>
                    <a:pt x="10866374" y="63246"/>
                    <a:pt x="10866374" y="141097"/>
                  </a:cubicBezTo>
                  <a:lnTo>
                    <a:pt x="10866374" y="4089908"/>
                  </a:lnTo>
                  <a:cubicBezTo>
                    <a:pt x="10866374" y="4167886"/>
                    <a:pt x="10803001" y="4231005"/>
                    <a:pt x="10725023" y="4231005"/>
                  </a:cubicBezTo>
                  <a:lnTo>
                    <a:pt x="141351" y="4231005"/>
                  </a:lnTo>
                  <a:cubicBezTo>
                    <a:pt x="63373" y="4231132"/>
                    <a:pt x="0" y="4167886"/>
                    <a:pt x="0" y="408990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79074" cy="4243705"/>
            </a:xfrm>
            <a:custGeom>
              <a:avLst/>
              <a:gdLst/>
              <a:ahLst/>
              <a:cxnLst/>
              <a:rect r="r" b="b" t="t" l="l"/>
              <a:pathLst>
                <a:path h="4243705" w="10879074">
                  <a:moveTo>
                    <a:pt x="0" y="147447"/>
                  </a:moveTo>
                  <a:cubicBezTo>
                    <a:pt x="0" y="66040"/>
                    <a:pt x="66167" y="0"/>
                    <a:pt x="147701" y="0"/>
                  </a:cubicBezTo>
                  <a:lnTo>
                    <a:pt x="10731373" y="0"/>
                  </a:lnTo>
                  <a:lnTo>
                    <a:pt x="10731373" y="6350"/>
                  </a:lnTo>
                  <a:lnTo>
                    <a:pt x="10731373" y="0"/>
                  </a:lnTo>
                  <a:cubicBezTo>
                    <a:pt x="10812907" y="0"/>
                    <a:pt x="10879074" y="66040"/>
                    <a:pt x="10879074" y="147447"/>
                  </a:cubicBezTo>
                  <a:lnTo>
                    <a:pt x="10872724" y="147447"/>
                  </a:lnTo>
                  <a:lnTo>
                    <a:pt x="10879074" y="147447"/>
                  </a:lnTo>
                  <a:lnTo>
                    <a:pt x="10879074" y="4096258"/>
                  </a:lnTo>
                  <a:lnTo>
                    <a:pt x="10872724" y="4096258"/>
                  </a:lnTo>
                  <a:lnTo>
                    <a:pt x="10879074" y="4096258"/>
                  </a:lnTo>
                  <a:cubicBezTo>
                    <a:pt x="10879074" y="4177792"/>
                    <a:pt x="10812907" y="4243705"/>
                    <a:pt x="10731373" y="4243705"/>
                  </a:cubicBezTo>
                  <a:lnTo>
                    <a:pt x="10731373" y="4237355"/>
                  </a:lnTo>
                  <a:lnTo>
                    <a:pt x="10731373" y="4243705"/>
                  </a:lnTo>
                  <a:lnTo>
                    <a:pt x="147701" y="4243705"/>
                  </a:lnTo>
                  <a:lnTo>
                    <a:pt x="147701" y="4237355"/>
                  </a:lnTo>
                  <a:lnTo>
                    <a:pt x="147701" y="4243705"/>
                  </a:lnTo>
                  <a:cubicBezTo>
                    <a:pt x="66167" y="4243832"/>
                    <a:pt x="0" y="4177792"/>
                    <a:pt x="0" y="4096258"/>
                  </a:cubicBezTo>
                  <a:lnTo>
                    <a:pt x="0" y="147447"/>
                  </a:lnTo>
                  <a:lnTo>
                    <a:pt x="6350" y="147447"/>
                  </a:lnTo>
                  <a:lnTo>
                    <a:pt x="0" y="147447"/>
                  </a:lnTo>
                  <a:moveTo>
                    <a:pt x="12700" y="147447"/>
                  </a:moveTo>
                  <a:lnTo>
                    <a:pt x="12700" y="4096258"/>
                  </a:lnTo>
                  <a:lnTo>
                    <a:pt x="6350" y="4096258"/>
                  </a:lnTo>
                  <a:lnTo>
                    <a:pt x="12700" y="4096258"/>
                  </a:lnTo>
                  <a:cubicBezTo>
                    <a:pt x="12700" y="4170680"/>
                    <a:pt x="73152" y="4231005"/>
                    <a:pt x="147701" y="4231005"/>
                  </a:cubicBezTo>
                  <a:lnTo>
                    <a:pt x="10731373" y="4231005"/>
                  </a:lnTo>
                  <a:cubicBezTo>
                    <a:pt x="10805922" y="4231005"/>
                    <a:pt x="10866374" y="4170680"/>
                    <a:pt x="10866374" y="4096258"/>
                  </a:cubicBezTo>
                  <a:lnTo>
                    <a:pt x="10866374" y="147447"/>
                  </a:lnTo>
                  <a:cubicBezTo>
                    <a:pt x="10866501" y="73025"/>
                    <a:pt x="10805922" y="12700"/>
                    <a:pt x="10731373" y="12700"/>
                  </a:cubicBezTo>
                  <a:lnTo>
                    <a:pt x="147701" y="12700"/>
                  </a:lnTo>
                  <a:lnTo>
                    <a:pt x="147701" y="6350"/>
                  </a:lnTo>
                  <a:lnTo>
                    <a:pt x="147701" y="12700"/>
                  </a:lnTo>
                  <a:cubicBezTo>
                    <a:pt x="73152" y="12700"/>
                    <a:pt x="12700" y="73025"/>
                    <a:pt x="12700" y="14744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43591" y="6134691"/>
            <a:ext cx="756047" cy="756047"/>
            <a:chOff x="0" y="0"/>
            <a:chExt cx="1008062" cy="10080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7999" cy="1008126"/>
            </a:xfrm>
            <a:custGeom>
              <a:avLst/>
              <a:gdLst/>
              <a:ahLst/>
              <a:cxnLst/>
              <a:rect r="r" b="b" t="t" l="l"/>
              <a:pathLst>
                <a:path h="1008126" w="1007999">
                  <a:moveTo>
                    <a:pt x="0" y="504063"/>
                  </a:moveTo>
                  <a:cubicBezTo>
                    <a:pt x="0" y="225679"/>
                    <a:pt x="225679" y="0"/>
                    <a:pt x="504063" y="0"/>
                  </a:cubicBezTo>
                  <a:cubicBezTo>
                    <a:pt x="782447" y="0"/>
                    <a:pt x="1007999" y="225679"/>
                    <a:pt x="1007999" y="504063"/>
                  </a:cubicBezTo>
                  <a:cubicBezTo>
                    <a:pt x="1007999" y="782447"/>
                    <a:pt x="782320" y="1008126"/>
                    <a:pt x="503936" y="1008126"/>
                  </a:cubicBezTo>
                  <a:cubicBezTo>
                    <a:pt x="225552" y="1008126"/>
                    <a:pt x="0" y="782447"/>
                    <a:pt x="0" y="504063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351512" y="6342459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3" y="0"/>
                </a:lnTo>
                <a:lnTo>
                  <a:pt x="340223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443" r="0" b="-19443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43591" y="7095677"/>
            <a:ext cx="3586753" cy="41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Reactive, Not Proactive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3591" y="7576242"/>
            <a:ext cx="7626848" cy="120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Support typically responds after crisis escalation rather than detecting early warning signs in context and providing actionable guidance.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51156" y="5868438"/>
            <a:ext cx="8159506" cy="3182836"/>
            <a:chOff x="0" y="0"/>
            <a:chExt cx="10879341" cy="42437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10866628" cy="4231005"/>
            </a:xfrm>
            <a:custGeom>
              <a:avLst/>
              <a:gdLst/>
              <a:ahLst/>
              <a:cxnLst/>
              <a:rect r="r" b="b" t="t" l="l"/>
              <a:pathLst>
                <a:path h="4231005" w="10866628">
                  <a:moveTo>
                    <a:pt x="0" y="141097"/>
                  </a:moveTo>
                  <a:cubicBezTo>
                    <a:pt x="0" y="63246"/>
                    <a:pt x="63373" y="0"/>
                    <a:pt x="141351" y="0"/>
                  </a:cubicBezTo>
                  <a:lnTo>
                    <a:pt x="10725277" y="0"/>
                  </a:lnTo>
                  <a:cubicBezTo>
                    <a:pt x="10803382" y="0"/>
                    <a:pt x="10866628" y="63246"/>
                    <a:pt x="10866628" y="141097"/>
                  </a:cubicBezTo>
                  <a:lnTo>
                    <a:pt x="10866628" y="4089908"/>
                  </a:lnTo>
                  <a:cubicBezTo>
                    <a:pt x="10866628" y="4167886"/>
                    <a:pt x="10803255" y="4231005"/>
                    <a:pt x="10725277" y="4231005"/>
                  </a:cubicBezTo>
                  <a:lnTo>
                    <a:pt x="141351" y="4231005"/>
                  </a:lnTo>
                  <a:cubicBezTo>
                    <a:pt x="63373" y="4231132"/>
                    <a:pt x="0" y="4167886"/>
                    <a:pt x="0" y="408990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79328" cy="4243705"/>
            </a:xfrm>
            <a:custGeom>
              <a:avLst/>
              <a:gdLst/>
              <a:ahLst/>
              <a:cxnLst/>
              <a:rect r="r" b="b" t="t" l="l"/>
              <a:pathLst>
                <a:path h="4243705" w="10879328">
                  <a:moveTo>
                    <a:pt x="0" y="147447"/>
                  </a:moveTo>
                  <a:cubicBezTo>
                    <a:pt x="0" y="66040"/>
                    <a:pt x="66167" y="0"/>
                    <a:pt x="147701" y="0"/>
                  </a:cubicBezTo>
                  <a:lnTo>
                    <a:pt x="10731627" y="0"/>
                  </a:lnTo>
                  <a:lnTo>
                    <a:pt x="10731627" y="6350"/>
                  </a:lnTo>
                  <a:lnTo>
                    <a:pt x="10731627" y="0"/>
                  </a:lnTo>
                  <a:cubicBezTo>
                    <a:pt x="10813161" y="0"/>
                    <a:pt x="10879328" y="66040"/>
                    <a:pt x="10879328" y="147447"/>
                  </a:cubicBezTo>
                  <a:lnTo>
                    <a:pt x="10872978" y="147447"/>
                  </a:lnTo>
                  <a:lnTo>
                    <a:pt x="10879328" y="147447"/>
                  </a:lnTo>
                  <a:lnTo>
                    <a:pt x="10879328" y="4096258"/>
                  </a:lnTo>
                  <a:lnTo>
                    <a:pt x="10872978" y="4096258"/>
                  </a:lnTo>
                  <a:lnTo>
                    <a:pt x="10879328" y="4096258"/>
                  </a:lnTo>
                  <a:cubicBezTo>
                    <a:pt x="10879328" y="4177792"/>
                    <a:pt x="10813161" y="4243705"/>
                    <a:pt x="10731627" y="4243705"/>
                  </a:cubicBezTo>
                  <a:lnTo>
                    <a:pt x="10731627" y="4237355"/>
                  </a:lnTo>
                  <a:lnTo>
                    <a:pt x="10731627" y="4243705"/>
                  </a:lnTo>
                  <a:lnTo>
                    <a:pt x="147701" y="4243705"/>
                  </a:lnTo>
                  <a:lnTo>
                    <a:pt x="147701" y="4237355"/>
                  </a:lnTo>
                  <a:lnTo>
                    <a:pt x="147701" y="4243705"/>
                  </a:lnTo>
                  <a:cubicBezTo>
                    <a:pt x="66167" y="4243832"/>
                    <a:pt x="0" y="4177792"/>
                    <a:pt x="0" y="4096258"/>
                  </a:cubicBezTo>
                  <a:lnTo>
                    <a:pt x="0" y="147447"/>
                  </a:lnTo>
                  <a:lnTo>
                    <a:pt x="6350" y="147447"/>
                  </a:lnTo>
                  <a:lnTo>
                    <a:pt x="0" y="147447"/>
                  </a:lnTo>
                  <a:moveTo>
                    <a:pt x="12700" y="147447"/>
                  </a:moveTo>
                  <a:lnTo>
                    <a:pt x="12700" y="4096258"/>
                  </a:lnTo>
                  <a:lnTo>
                    <a:pt x="6350" y="4096258"/>
                  </a:lnTo>
                  <a:lnTo>
                    <a:pt x="12700" y="4096258"/>
                  </a:lnTo>
                  <a:cubicBezTo>
                    <a:pt x="12700" y="4170680"/>
                    <a:pt x="73152" y="4231005"/>
                    <a:pt x="147701" y="4231005"/>
                  </a:cubicBezTo>
                  <a:lnTo>
                    <a:pt x="10731627" y="4231005"/>
                  </a:lnTo>
                  <a:cubicBezTo>
                    <a:pt x="10806176" y="4231005"/>
                    <a:pt x="10866628" y="4170680"/>
                    <a:pt x="10866628" y="4096258"/>
                  </a:cubicBezTo>
                  <a:lnTo>
                    <a:pt x="10866628" y="147447"/>
                  </a:lnTo>
                  <a:cubicBezTo>
                    <a:pt x="10866628" y="73025"/>
                    <a:pt x="10806176" y="12700"/>
                    <a:pt x="10731627" y="12700"/>
                  </a:cubicBezTo>
                  <a:lnTo>
                    <a:pt x="147701" y="12700"/>
                  </a:lnTo>
                  <a:lnTo>
                    <a:pt x="147701" y="6350"/>
                  </a:lnTo>
                  <a:lnTo>
                    <a:pt x="147701" y="12700"/>
                  </a:lnTo>
                  <a:cubicBezTo>
                    <a:pt x="73152" y="12700"/>
                    <a:pt x="12700" y="73025"/>
                    <a:pt x="12700" y="14744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17409" y="6134691"/>
            <a:ext cx="756047" cy="756047"/>
            <a:chOff x="0" y="0"/>
            <a:chExt cx="1008062" cy="100806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7999" cy="1008126"/>
            </a:xfrm>
            <a:custGeom>
              <a:avLst/>
              <a:gdLst/>
              <a:ahLst/>
              <a:cxnLst/>
              <a:rect r="r" b="b" t="t" l="l"/>
              <a:pathLst>
                <a:path h="1008126" w="1007999">
                  <a:moveTo>
                    <a:pt x="0" y="504063"/>
                  </a:moveTo>
                  <a:cubicBezTo>
                    <a:pt x="0" y="225679"/>
                    <a:pt x="225679" y="0"/>
                    <a:pt x="504063" y="0"/>
                  </a:cubicBezTo>
                  <a:cubicBezTo>
                    <a:pt x="782447" y="0"/>
                    <a:pt x="1007999" y="225679"/>
                    <a:pt x="1007999" y="504063"/>
                  </a:cubicBezTo>
                  <a:cubicBezTo>
                    <a:pt x="1007999" y="782447"/>
                    <a:pt x="782320" y="1008126"/>
                    <a:pt x="503936" y="1008126"/>
                  </a:cubicBezTo>
                  <a:cubicBezTo>
                    <a:pt x="225552" y="1008126"/>
                    <a:pt x="0" y="782447"/>
                    <a:pt x="0" y="504063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9725320" y="6342459"/>
            <a:ext cx="340223" cy="340223"/>
          </a:xfrm>
          <a:custGeom>
            <a:avLst/>
            <a:gdLst/>
            <a:ahLst/>
            <a:cxnLst/>
            <a:rect r="r" b="b" t="t" l="l"/>
            <a:pathLst>
              <a:path h="340223" w="340223">
                <a:moveTo>
                  <a:pt x="0" y="0"/>
                </a:moveTo>
                <a:lnTo>
                  <a:pt x="340224" y="0"/>
                </a:lnTo>
                <a:lnTo>
                  <a:pt x="340224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3888" r="0" b="-13888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517409" y="7095677"/>
            <a:ext cx="3406978" cy="41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Missing Local Context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17409" y="7576242"/>
            <a:ext cx="7626991" cy="120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Crisis situations lack immediate, localized resource recommendations tailored to the user's emotional state and geographic location.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38135" y="1752152"/>
            <a:ext cx="12764691" cy="70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Our Solution: Multimodal Emotional Intelligence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38135" y="2909735"/>
            <a:ext cx="9699127" cy="5413324"/>
            <a:chOff x="0" y="0"/>
            <a:chExt cx="12932169" cy="721776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932156" cy="7217791"/>
            </a:xfrm>
            <a:custGeom>
              <a:avLst/>
              <a:gdLst/>
              <a:ahLst/>
              <a:cxnLst/>
              <a:rect r="r" b="b" t="t" l="l"/>
              <a:pathLst>
                <a:path h="7217791" w="12932156">
                  <a:moveTo>
                    <a:pt x="0" y="0"/>
                  </a:moveTo>
                  <a:lnTo>
                    <a:pt x="12932156" y="0"/>
                  </a:lnTo>
                  <a:lnTo>
                    <a:pt x="12932156" y="7217791"/>
                  </a:lnTo>
                  <a:lnTo>
                    <a:pt x="0" y="72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" t="0" r="-1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784654" y="3170187"/>
            <a:ext cx="3029398" cy="35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How EmoSense Works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84654" y="3657448"/>
            <a:ext cx="4974431" cy="97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6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EmoSense combines multiple AI technologies to create emotionally aware conversational support: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84654" y="4751937"/>
            <a:ext cx="4974431" cy="341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Voice emotion detection from speech using Wav2Vec2 with 8 emotional classes</a:t>
            </a:r>
          </a:p>
          <a:p>
            <a:pPr algn="l" marL="254496" indent="-127248" lvl="1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Text sentiment and intent classification through RoBERTa models</a:t>
            </a:r>
          </a:p>
          <a:p>
            <a:pPr algn="l" marL="254496" indent="-127248" lvl="1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Emotion-aware conversational responses powered by Qwen2.5-7B-Instruct</a:t>
            </a:r>
          </a:p>
          <a:p>
            <a:pPr algn="l" marL="254496" indent="-127248" lvl="1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Resource recommendations tailored to emotional state and user intent</a:t>
            </a:r>
          </a:p>
          <a:p>
            <a:pPr algn="l" marL="254496" indent="-127248" lvl="1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Deterministic crisis-first safety interception before LLM generation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70522" y="737740"/>
            <a:ext cx="6041231" cy="64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Product Experience 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464889" y="1953216"/>
            <a:ext cx="208655" cy="905913"/>
            <a:chOff x="0" y="0"/>
            <a:chExt cx="278206" cy="12078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265684" cy="1195197"/>
            </a:xfrm>
            <a:custGeom>
              <a:avLst/>
              <a:gdLst/>
              <a:ahLst/>
              <a:cxnLst/>
              <a:rect r="r" b="b" t="t" l="l"/>
              <a:pathLst>
                <a:path h="1195197" w="265684">
                  <a:moveTo>
                    <a:pt x="0" y="115697"/>
                  </a:moveTo>
                  <a:cubicBezTo>
                    <a:pt x="0" y="51816"/>
                    <a:pt x="49911" y="0"/>
                    <a:pt x="111633" y="0"/>
                  </a:cubicBezTo>
                  <a:lnTo>
                    <a:pt x="154051" y="0"/>
                  </a:lnTo>
                  <a:cubicBezTo>
                    <a:pt x="215646" y="0"/>
                    <a:pt x="265684" y="51816"/>
                    <a:pt x="265684" y="115697"/>
                  </a:cubicBezTo>
                  <a:lnTo>
                    <a:pt x="265684" y="1079500"/>
                  </a:lnTo>
                  <a:cubicBezTo>
                    <a:pt x="265684" y="1143381"/>
                    <a:pt x="215773" y="1195197"/>
                    <a:pt x="154051" y="1195197"/>
                  </a:cubicBezTo>
                  <a:lnTo>
                    <a:pt x="111633" y="1195197"/>
                  </a:lnTo>
                  <a:cubicBezTo>
                    <a:pt x="49911" y="1195197"/>
                    <a:pt x="0" y="1143381"/>
                    <a:pt x="0" y="107950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8384" cy="1207897"/>
            </a:xfrm>
            <a:custGeom>
              <a:avLst/>
              <a:gdLst/>
              <a:ahLst/>
              <a:cxnLst/>
              <a:rect r="r" b="b" t="t" l="l"/>
              <a:pathLst>
                <a:path h="1207897" w="278384">
                  <a:moveTo>
                    <a:pt x="0" y="122047"/>
                  </a:moveTo>
                  <a:cubicBezTo>
                    <a:pt x="0" y="54864"/>
                    <a:pt x="52578" y="0"/>
                    <a:pt x="117983" y="0"/>
                  </a:cubicBezTo>
                  <a:lnTo>
                    <a:pt x="160401" y="0"/>
                  </a:lnTo>
                  <a:lnTo>
                    <a:pt x="160401" y="6350"/>
                  </a:lnTo>
                  <a:lnTo>
                    <a:pt x="160401" y="0"/>
                  </a:lnTo>
                  <a:lnTo>
                    <a:pt x="160401" y="6350"/>
                  </a:lnTo>
                  <a:lnTo>
                    <a:pt x="160401" y="0"/>
                  </a:lnTo>
                  <a:cubicBezTo>
                    <a:pt x="225679" y="0"/>
                    <a:pt x="278384" y="54864"/>
                    <a:pt x="278384" y="122047"/>
                  </a:cubicBezTo>
                  <a:lnTo>
                    <a:pt x="278384" y="1085850"/>
                  </a:lnTo>
                  <a:lnTo>
                    <a:pt x="272034" y="1085850"/>
                  </a:lnTo>
                  <a:lnTo>
                    <a:pt x="278384" y="1085850"/>
                  </a:lnTo>
                  <a:cubicBezTo>
                    <a:pt x="278384" y="1153033"/>
                    <a:pt x="225806" y="1207897"/>
                    <a:pt x="160401" y="1207897"/>
                  </a:cubicBezTo>
                  <a:lnTo>
                    <a:pt x="160401" y="1201547"/>
                  </a:lnTo>
                  <a:lnTo>
                    <a:pt x="160401" y="1207897"/>
                  </a:lnTo>
                  <a:lnTo>
                    <a:pt x="117983" y="1207897"/>
                  </a:lnTo>
                  <a:lnTo>
                    <a:pt x="117983" y="1201547"/>
                  </a:lnTo>
                  <a:lnTo>
                    <a:pt x="117983" y="1207897"/>
                  </a:lnTo>
                  <a:cubicBezTo>
                    <a:pt x="52578" y="1207897"/>
                    <a:pt x="0" y="1153033"/>
                    <a:pt x="0" y="1085850"/>
                  </a:cubicBezTo>
                  <a:lnTo>
                    <a:pt x="0" y="122047"/>
                  </a:lnTo>
                  <a:lnTo>
                    <a:pt x="6350" y="122047"/>
                  </a:lnTo>
                  <a:lnTo>
                    <a:pt x="0" y="122047"/>
                  </a:lnTo>
                  <a:moveTo>
                    <a:pt x="12700" y="122047"/>
                  </a:moveTo>
                  <a:lnTo>
                    <a:pt x="12700" y="1085850"/>
                  </a:lnTo>
                  <a:lnTo>
                    <a:pt x="6350" y="1085850"/>
                  </a:lnTo>
                  <a:lnTo>
                    <a:pt x="12700" y="1085850"/>
                  </a:lnTo>
                  <a:cubicBezTo>
                    <a:pt x="12700" y="1146429"/>
                    <a:pt x="60071" y="1195197"/>
                    <a:pt x="117983" y="1195197"/>
                  </a:cubicBezTo>
                  <a:lnTo>
                    <a:pt x="160401" y="1195197"/>
                  </a:lnTo>
                  <a:cubicBezTo>
                    <a:pt x="218313" y="1195197"/>
                    <a:pt x="265684" y="1146429"/>
                    <a:pt x="265684" y="1085850"/>
                  </a:cubicBezTo>
                  <a:lnTo>
                    <a:pt x="265684" y="122047"/>
                  </a:lnTo>
                  <a:lnTo>
                    <a:pt x="272034" y="122047"/>
                  </a:lnTo>
                  <a:lnTo>
                    <a:pt x="265684" y="122047"/>
                  </a:lnTo>
                  <a:cubicBezTo>
                    <a:pt x="265557" y="61468"/>
                    <a:pt x="218186" y="12700"/>
                    <a:pt x="160274" y="12700"/>
                  </a:cubicBezTo>
                  <a:lnTo>
                    <a:pt x="117983" y="12700"/>
                  </a:lnTo>
                  <a:lnTo>
                    <a:pt x="117983" y="6350"/>
                  </a:lnTo>
                  <a:lnTo>
                    <a:pt x="117983" y="12700"/>
                  </a:lnTo>
                  <a:cubicBezTo>
                    <a:pt x="60071" y="12700"/>
                    <a:pt x="12700" y="61468"/>
                    <a:pt x="12700" y="12204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65759" y="1822552"/>
            <a:ext cx="607066" cy="607066"/>
            <a:chOff x="0" y="0"/>
            <a:chExt cx="809422" cy="8094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796671" cy="796671"/>
            </a:xfrm>
            <a:custGeom>
              <a:avLst/>
              <a:gdLst/>
              <a:ahLst/>
              <a:cxnLst/>
              <a:rect r="r" b="b" t="t" l="l"/>
              <a:pathLst>
                <a:path h="796671" w="796671">
                  <a:moveTo>
                    <a:pt x="0" y="398399"/>
                  </a:moveTo>
                  <a:cubicBezTo>
                    <a:pt x="0" y="178308"/>
                    <a:pt x="178308" y="0"/>
                    <a:pt x="398399" y="0"/>
                  </a:cubicBezTo>
                  <a:cubicBezTo>
                    <a:pt x="618490" y="0"/>
                    <a:pt x="796671" y="178308"/>
                    <a:pt x="796671" y="398399"/>
                  </a:cubicBezTo>
                  <a:cubicBezTo>
                    <a:pt x="796671" y="618490"/>
                    <a:pt x="618363" y="796671"/>
                    <a:pt x="398399" y="796671"/>
                  </a:cubicBezTo>
                  <a:cubicBezTo>
                    <a:pt x="178435" y="796671"/>
                    <a:pt x="0" y="618363"/>
                    <a:pt x="0" y="39839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9498" cy="809498"/>
            </a:xfrm>
            <a:custGeom>
              <a:avLst/>
              <a:gdLst/>
              <a:ahLst/>
              <a:cxnLst/>
              <a:rect r="r" b="b" t="t" l="l"/>
              <a:pathLst>
                <a:path h="809498" w="809498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cubicBezTo>
                    <a:pt x="405892" y="0"/>
                    <a:pt x="407162" y="381"/>
                    <a:pt x="408178" y="1016"/>
                  </a:cubicBezTo>
                  <a:lnTo>
                    <a:pt x="404749" y="6350"/>
                  </a:lnTo>
                  <a:lnTo>
                    <a:pt x="404749" y="0"/>
                  </a:lnTo>
                  <a:lnTo>
                    <a:pt x="404749" y="6350"/>
                  </a:ln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cubicBezTo>
                    <a:pt x="809498" y="406781"/>
                    <a:pt x="808609" y="408686"/>
                    <a:pt x="806958" y="409829"/>
                  </a:cubicBezTo>
                  <a:lnTo>
                    <a:pt x="803148" y="404749"/>
                  </a:lnTo>
                  <a:lnTo>
                    <a:pt x="809498" y="404749"/>
                  </a:lnTo>
                  <a:cubicBezTo>
                    <a:pt x="809498" y="628269"/>
                    <a:pt x="628269" y="809498"/>
                    <a:pt x="404749" y="809498"/>
                  </a:cubicBezTo>
                  <a:lnTo>
                    <a:pt x="404749" y="803148"/>
                  </a:lnTo>
                  <a:lnTo>
                    <a:pt x="404749" y="809498"/>
                  </a:lnTo>
                  <a:cubicBezTo>
                    <a:pt x="181229" y="809371"/>
                    <a:pt x="0" y="628269"/>
                    <a:pt x="0" y="404749"/>
                  </a:cubicBezTo>
                  <a:lnTo>
                    <a:pt x="6350" y="404749"/>
                  </a:lnTo>
                  <a:lnTo>
                    <a:pt x="0" y="404749"/>
                  </a:lnTo>
                  <a:moveTo>
                    <a:pt x="12700" y="404749"/>
                  </a:moveTo>
                  <a:lnTo>
                    <a:pt x="6350" y="404749"/>
                  </a:lnTo>
                  <a:lnTo>
                    <a:pt x="12700" y="404749"/>
                  </a:lnTo>
                  <a:cubicBezTo>
                    <a:pt x="12700" y="621157"/>
                    <a:pt x="188214" y="796671"/>
                    <a:pt x="404749" y="796671"/>
                  </a:cubicBezTo>
                  <a:cubicBezTo>
                    <a:pt x="621284" y="796671"/>
                    <a:pt x="796671" y="621157"/>
                    <a:pt x="796671" y="404749"/>
                  </a:cubicBezTo>
                  <a:cubicBezTo>
                    <a:pt x="796671" y="402717"/>
                    <a:pt x="797560" y="400812"/>
                    <a:pt x="799211" y="399669"/>
                  </a:cubicBezTo>
                  <a:lnTo>
                    <a:pt x="803021" y="404749"/>
                  </a:lnTo>
                  <a:lnTo>
                    <a:pt x="796671" y="404749"/>
                  </a:lnTo>
                  <a:cubicBezTo>
                    <a:pt x="796671" y="188214"/>
                    <a:pt x="621157" y="12700"/>
                    <a:pt x="404749" y="12700"/>
                  </a:cubicBezTo>
                  <a:cubicBezTo>
                    <a:pt x="403606" y="12700"/>
                    <a:pt x="402336" y="12319"/>
                    <a:pt x="401320" y="11684"/>
                  </a:cubicBezTo>
                  <a:lnTo>
                    <a:pt x="404749" y="6350"/>
                  </a:lnTo>
                  <a:lnTo>
                    <a:pt x="404749" y="12700"/>
                  </a:lnTo>
                  <a:cubicBezTo>
                    <a:pt x="188214" y="12700"/>
                    <a:pt x="12700" y="188214"/>
                    <a:pt x="12700" y="40474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2419941" y="1976733"/>
            <a:ext cx="298694" cy="298694"/>
          </a:xfrm>
          <a:custGeom>
            <a:avLst/>
            <a:gdLst/>
            <a:ahLst/>
            <a:cxnLst/>
            <a:rect r="r" b="b" t="t" l="l"/>
            <a:pathLst>
              <a:path h="298694" w="298694">
                <a:moveTo>
                  <a:pt x="0" y="0"/>
                </a:moveTo>
                <a:lnTo>
                  <a:pt x="298694" y="0"/>
                </a:lnTo>
                <a:lnTo>
                  <a:pt x="298694" y="298694"/>
                </a:lnTo>
                <a:lnTo>
                  <a:pt x="0" y="298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4376" r="0" b="-3437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07966" y="1839363"/>
            <a:ext cx="2490340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Audio Input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07966" y="2224983"/>
            <a:ext cx="13009359" cy="299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 uploads or records voice message sharing how they feel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763593" y="3288354"/>
            <a:ext cx="208655" cy="905913"/>
            <a:chOff x="0" y="0"/>
            <a:chExt cx="278206" cy="12078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265684" cy="1195197"/>
            </a:xfrm>
            <a:custGeom>
              <a:avLst/>
              <a:gdLst/>
              <a:ahLst/>
              <a:cxnLst/>
              <a:rect r="r" b="b" t="t" l="l"/>
              <a:pathLst>
                <a:path h="1195197" w="265684">
                  <a:moveTo>
                    <a:pt x="0" y="115697"/>
                  </a:moveTo>
                  <a:cubicBezTo>
                    <a:pt x="0" y="51816"/>
                    <a:pt x="49911" y="0"/>
                    <a:pt x="111633" y="0"/>
                  </a:cubicBezTo>
                  <a:lnTo>
                    <a:pt x="154051" y="0"/>
                  </a:lnTo>
                  <a:cubicBezTo>
                    <a:pt x="215646" y="0"/>
                    <a:pt x="265684" y="51816"/>
                    <a:pt x="265684" y="115697"/>
                  </a:cubicBezTo>
                  <a:lnTo>
                    <a:pt x="265684" y="1079500"/>
                  </a:lnTo>
                  <a:cubicBezTo>
                    <a:pt x="265684" y="1143381"/>
                    <a:pt x="215773" y="1195197"/>
                    <a:pt x="154051" y="1195197"/>
                  </a:cubicBezTo>
                  <a:lnTo>
                    <a:pt x="111633" y="1195197"/>
                  </a:lnTo>
                  <a:cubicBezTo>
                    <a:pt x="49911" y="1195197"/>
                    <a:pt x="0" y="1143381"/>
                    <a:pt x="0" y="107950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8384" cy="1207897"/>
            </a:xfrm>
            <a:custGeom>
              <a:avLst/>
              <a:gdLst/>
              <a:ahLst/>
              <a:cxnLst/>
              <a:rect r="r" b="b" t="t" l="l"/>
              <a:pathLst>
                <a:path h="1207897" w="278384">
                  <a:moveTo>
                    <a:pt x="0" y="122047"/>
                  </a:moveTo>
                  <a:cubicBezTo>
                    <a:pt x="0" y="54864"/>
                    <a:pt x="52578" y="0"/>
                    <a:pt x="117983" y="0"/>
                  </a:cubicBezTo>
                  <a:lnTo>
                    <a:pt x="160401" y="0"/>
                  </a:lnTo>
                  <a:lnTo>
                    <a:pt x="160401" y="6350"/>
                  </a:lnTo>
                  <a:lnTo>
                    <a:pt x="160401" y="0"/>
                  </a:lnTo>
                  <a:lnTo>
                    <a:pt x="160401" y="6350"/>
                  </a:lnTo>
                  <a:lnTo>
                    <a:pt x="160401" y="0"/>
                  </a:lnTo>
                  <a:cubicBezTo>
                    <a:pt x="225679" y="0"/>
                    <a:pt x="278384" y="54864"/>
                    <a:pt x="278384" y="122047"/>
                  </a:cubicBezTo>
                  <a:lnTo>
                    <a:pt x="278384" y="1085850"/>
                  </a:lnTo>
                  <a:lnTo>
                    <a:pt x="272034" y="1085850"/>
                  </a:lnTo>
                  <a:lnTo>
                    <a:pt x="278384" y="1085850"/>
                  </a:lnTo>
                  <a:cubicBezTo>
                    <a:pt x="278384" y="1153033"/>
                    <a:pt x="225806" y="1207897"/>
                    <a:pt x="160401" y="1207897"/>
                  </a:cubicBezTo>
                  <a:lnTo>
                    <a:pt x="160401" y="1201547"/>
                  </a:lnTo>
                  <a:lnTo>
                    <a:pt x="160401" y="1207897"/>
                  </a:lnTo>
                  <a:lnTo>
                    <a:pt x="117983" y="1207897"/>
                  </a:lnTo>
                  <a:lnTo>
                    <a:pt x="117983" y="1201547"/>
                  </a:lnTo>
                  <a:lnTo>
                    <a:pt x="117983" y="1207897"/>
                  </a:lnTo>
                  <a:cubicBezTo>
                    <a:pt x="52578" y="1207897"/>
                    <a:pt x="0" y="1153033"/>
                    <a:pt x="0" y="1085850"/>
                  </a:cubicBezTo>
                  <a:lnTo>
                    <a:pt x="0" y="122047"/>
                  </a:lnTo>
                  <a:lnTo>
                    <a:pt x="6350" y="122047"/>
                  </a:lnTo>
                  <a:lnTo>
                    <a:pt x="0" y="122047"/>
                  </a:lnTo>
                  <a:moveTo>
                    <a:pt x="12700" y="122047"/>
                  </a:moveTo>
                  <a:lnTo>
                    <a:pt x="12700" y="1085850"/>
                  </a:lnTo>
                  <a:lnTo>
                    <a:pt x="6350" y="1085850"/>
                  </a:lnTo>
                  <a:lnTo>
                    <a:pt x="12700" y="1085850"/>
                  </a:lnTo>
                  <a:cubicBezTo>
                    <a:pt x="12700" y="1146429"/>
                    <a:pt x="60071" y="1195197"/>
                    <a:pt x="117983" y="1195197"/>
                  </a:cubicBezTo>
                  <a:lnTo>
                    <a:pt x="160401" y="1195197"/>
                  </a:lnTo>
                  <a:cubicBezTo>
                    <a:pt x="218313" y="1195197"/>
                    <a:pt x="265684" y="1146429"/>
                    <a:pt x="265684" y="1085850"/>
                  </a:cubicBezTo>
                  <a:lnTo>
                    <a:pt x="265684" y="122047"/>
                  </a:lnTo>
                  <a:lnTo>
                    <a:pt x="272034" y="122047"/>
                  </a:lnTo>
                  <a:lnTo>
                    <a:pt x="265684" y="122047"/>
                  </a:lnTo>
                  <a:cubicBezTo>
                    <a:pt x="265557" y="61468"/>
                    <a:pt x="218186" y="12700"/>
                    <a:pt x="160274" y="12700"/>
                  </a:cubicBezTo>
                  <a:lnTo>
                    <a:pt x="117983" y="12700"/>
                  </a:lnTo>
                  <a:lnTo>
                    <a:pt x="117983" y="6350"/>
                  </a:lnTo>
                  <a:lnTo>
                    <a:pt x="117983" y="12700"/>
                  </a:lnTo>
                  <a:cubicBezTo>
                    <a:pt x="60071" y="12700"/>
                    <a:pt x="12700" y="61468"/>
                    <a:pt x="12700" y="12204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564454" y="3157690"/>
            <a:ext cx="607066" cy="607066"/>
            <a:chOff x="0" y="0"/>
            <a:chExt cx="809422" cy="8094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796671" cy="796671"/>
            </a:xfrm>
            <a:custGeom>
              <a:avLst/>
              <a:gdLst/>
              <a:ahLst/>
              <a:cxnLst/>
              <a:rect r="r" b="b" t="t" l="l"/>
              <a:pathLst>
                <a:path h="796671" w="796671">
                  <a:moveTo>
                    <a:pt x="0" y="398399"/>
                  </a:moveTo>
                  <a:cubicBezTo>
                    <a:pt x="0" y="178308"/>
                    <a:pt x="178308" y="0"/>
                    <a:pt x="398399" y="0"/>
                  </a:cubicBezTo>
                  <a:cubicBezTo>
                    <a:pt x="618490" y="0"/>
                    <a:pt x="796671" y="178308"/>
                    <a:pt x="796671" y="398399"/>
                  </a:cubicBezTo>
                  <a:cubicBezTo>
                    <a:pt x="796671" y="618490"/>
                    <a:pt x="618363" y="796671"/>
                    <a:pt x="398399" y="796671"/>
                  </a:cubicBezTo>
                  <a:cubicBezTo>
                    <a:pt x="178435" y="796671"/>
                    <a:pt x="0" y="618363"/>
                    <a:pt x="0" y="39839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9498" cy="809498"/>
            </a:xfrm>
            <a:custGeom>
              <a:avLst/>
              <a:gdLst/>
              <a:ahLst/>
              <a:cxnLst/>
              <a:rect r="r" b="b" t="t" l="l"/>
              <a:pathLst>
                <a:path h="809498" w="809498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cubicBezTo>
                    <a:pt x="405892" y="0"/>
                    <a:pt x="407162" y="381"/>
                    <a:pt x="408178" y="1016"/>
                  </a:cubicBezTo>
                  <a:lnTo>
                    <a:pt x="404749" y="6350"/>
                  </a:lnTo>
                  <a:lnTo>
                    <a:pt x="404749" y="0"/>
                  </a:lnTo>
                  <a:lnTo>
                    <a:pt x="404749" y="6350"/>
                  </a:ln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cubicBezTo>
                    <a:pt x="809498" y="406781"/>
                    <a:pt x="808609" y="408686"/>
                    <a:pt x="806958" y="409829"/>
                  </a:cubicBezTo>
                  <a:lnTo>
                    <a:pt x="803148" y="404749"/>
                  </a:lnTo>
                  <a:lnTo>
                    <a:pt x="809498" y="404749"/>
                  </a:lnTo>
                  <a:cubicBezTo>
                    <a:pt x="809498" y="628269"/>
                    <a:pt x="628269" y="809498"/>
                    <a:pt x="404749" y="809498"/>
                  </a:cubicBezTo>
                  <a:lnTo>
                    <a:pt x="404749" y="803148"/>
                  </a:lnTo>
                  <a:lnTo>
                    <a:pt x="404749" y="809498"/>
                  </a:lnTo>
                  <a:cubicBezTo>
                    <a:pt x="181229" y="809371"/>
                    <a:pt x="0" y="628269"/>
                    <a:pt x="0" y="404749"/>
                  </a:cubicBezTo>
                  <a:lnTo>
                    <a:pt x="6350" y="404749"/>
                  </a:lnTo>
                  <a:lnTo>
                    <a:pt x="0" y="404749"/>
                  </a:lnTo>
                  <a:moveTo>
                    <a:pt x="12700" y="404749"/>
                  </a:moveTo>
                  <a:lnTo>
                    <a:pt x="6350" y="404749"/>
                  </a:lnTo>
                  <a:lnTo>
                    <a:pt x="12700" y="404749"/>
                  </a:lnTo>
                  <a:cubicBezTo>
                    <a:pt x="12700" y="621157"/>
                    <a:pt x="188214" y="796671"/>
                    <a:pt x="404749" y="796671"/>
                  </a:cubicBezTo>
                  <a:cubicBezTo>
                    <a:pt x="621284" y="796671"/>
                    <a:pt x="796671" y="621157"/>
                    <a:pt x="796671" y="404749"/>
                  </a:cubicBezTo>
                  <a:cubicBezTo>
                    <a:pt x="796671" y="402717"/>
                    <a:pt x="797560" y="400812"/>
                    <a:pt x="799211" y="399669"/>
                  </a:cubicBezTo>
                  <a:lnTo>
                    <a:pt x="803021" y="404749"/>
                  </a:lnTo>
                  <a:lnTo>
                    <a:pt x="796671" y="404749"/>
                  </a:lnTo>
                  <a:cubicBezTo>
                    <a:pt x="796671" y="188214"/>
                    <a:pt x="621157" y="12700"/>
                    <a:pt x="404749" y="12700"/>
                  </a:cubicBezTo>
                  <a:cubicBezTo>
                    <a:pt x="403606" y="12700"/>
                    <a:pt x="402336" y="12319"/>
                    <a:pt x="401320" y="11684"/>
                  </a:cubicBezTo>
                  <a:lnTo>
                    <a:pt x="404749" y="6350"/>
                  </a:lnTo>
                  <a:lnTo>
                    <a:pt x="404749" y="12700"/>
                  </a:lnTo>
                  <a:cubicBezTo>
                    <a:pt x="188214" y="12700"/>
                    <a:pt x="12700" y="188214"/>
                    <a:pt x="12700" y="40474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2718645" y="3311871"/>
            <a:ext cx="298694" cy="298694"/>
          </a:xfrm>
          <a:custGeom>
            <a:avLst/>
            <a:gdLst/>
            <a:ahLst/>
            <a:cxnLst/>
            <a:rect r="r" b="b" t="t" l="l"/>
            <a:pathLst>
              <a:path h="298694" w="298694">
                <a:moveTo>
                  <a:pt x="0" y="0"/>
                </a:moveTo>
                <a:lnTo>
                  <a:pt x="298694" y="0"/>
                </a:lnTo>
                <a:lnTo>
                  <a:pt x="298694" y="298695"/>
                </a:lnTo>
                <a:lnTo>
                  <a:pt x="0" y="2986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125" r="0" b="-3125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306661" y="3174502"/>
            <a:ext cx="2490340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Emotion Detection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06661" y="3560121"/>
            <a:ext cx="12710665" cy="299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System predicts emotion classification with confidence scoring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062440" y="4623492"/>
            <a:ext cx="208655" cy="905913"/>
            <a:chOff x="0" y="0"/>
            <a:chExt cx="278206" cy="12078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265684" cy="1195197"/>
            </a:xfrm>
            <a:custGeom>
              <a:avLst/>
              <a:gdLst/>
              <a:ahLst/>
              <a:cxnLst/>
              <a:rect r="r" b="b" t="t" l="l"/>
              <a:pathLst>
                <a:path h="1195197" w="265684">
                  <a:moveTo>
                    <a:pt x="0" y="115697"/>
                  </a:moveTo>
                  <a:cubicBezTo>
                    <a:pt x="0" y="51816"/>
                    <a:pt x="49911" y="0"/>
                    <a:pt x="111633" y="0"/>
                  </a:cubicBezTo>
                  <a:lnTo>
                    <a:pt x="154051" y="0"/>
                  </a:lnTo>
                  <a:cubicBezTo>
                    <a:pt x="215646" y="0"/>
                    <a:pt x="265684" y="51816"/>
                    <a:pt x="265684" y="115697"/>
                  </a:cubicBezTo>
                  <a:lnTo>
                    <a:pt x="265684" y="1079500"/>
                  </a:lnTo>
                  <a:cubicBezTo>
                    <a:pt x="265684" y="1143381"/>
                    <a:pt x="215773" y="1195197"/>
                    <a:pt x="154051" y="1195197"/>
                  </a:cubicBezTo>
                  <a:lnTo>
                    <a:pt x="111633" y="1195197"/>
                  </a:lnTo>
                  <a:cubicBezTo>
                    <a:pt x="49911" y="1195197"/>
                    <a:pt x="0" y="1143381"/>
                    <a:pt x="0" y="107950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8384" cy="1207897"/>
            </a:xfrm>
            <a:custGeom>
              <a:avLst/>
              <a:gdLst/>
              <a:ahLst/>
              <a:cxnLst/>
              <a:rect r="r" b="b" t="t" l="l"/>
              <a:pathLst>
                <a:path h="1207897" w="278384">
                  <a:moveTo>
                    <a:pt x="0" y="122047"/>
                  </a:moveTo>
                  <a:cubicBezTo>
                    <a:pt x="0" y="54864"/>
                    <a:pt x="52578" y="0"/>
                    <a:pt x="117983" y="0"/>
                  </a:cubicBezTo>
                  <a:lnTo>
                    <a:pt x="160401" y="0"/>
                  </a:lnTo>
                  <a:lnTo>
                    <a:pt x="160401" y="6350"/>
                  </a:lnTo>
                  <a:lnTo>
                    <a:pt x="160401" y="0"/>
                  </a:lnTo>
                  <a:lnTo>
                    <a:pt x="160401" y="6350"/>
                  </a:lnTo>
                  <a:lnTo>
                    <a:pt x="160401" y="0"/>
                  </a:lnTo>
                  <a:cubicBezTo>
                    <a:pt x="225679" y="0"/>
                    <a:pt x="278384" y="54864"/>
                    <a:pt x="278384" y="122047"/>
                  </a:cubicBezTo>
                  <a:lnTo>
                    <a:pt x="278384" y="1085850"/>
                  </a:lnTo>
                  <a:lnTo>
                    <a:pt x="272034" y="1085850"/>
                  </a:lnTo>
                  <a:lnTo>
                    <a:pt x="278384" y="1085850"/>
                  </a:lnTo>
                  <a:cubicBezTo>
                    <a:pt x="278384" y="1153033"/>
                    <a:pt x="225806" y="1207897"/>
                    <a:pt x="160401" y="1207897"/>
                  </a:cubicBezTo>
                  <a:lnTo>
                    <a:pt x="160401" y="1201547"/>
                  </a:lnTo>
                  <a:lnTo>
                    <a:pt x="160401" y="1207897"/>
                  </a:lnTo>
                  <a:lnTo>
                    <a:pt x="117983" y="1207897"/>
                  </a:lnTo>
                  <a:lnTo>
                    <a:pt x="117983" y="1201547"/>
                  </a:lnTo>
                  <a:lnTo>
                    <a:pt x="117983" y="1207897"/>
                  </a:lnTo>
                  <a:cubicBezTo>
                    <a:pt x="52578" y="1207897"/>
                    <a:pt x="0" y="1153033"/>
                    <a:pt x="0" y="1085850"/>
                  </a:cubicBezTo>
                  <a:lnTo>
                    <a:pt x="0" y="122047"/>
                  </a:lnTo>
                  <a:lnTo>
                    <a:pt x="6350" y="122047"/>
                  </a:lnTo>
                  <a:lnTo>
                    <a:pt x="0" y="122047"/>
                  </a:lnTo>
                  <a:moveTo>
                    <a:pt x="12700" y="122047"/>
                  </a:moveTo>
                  <a:lnTo>
                    <a:pt x="12700" y="1085850"/>
                  </a:lnTo>
                  <a:lnTo>
                    <a:pt x="6350" y="1085850"/>
                  </a:lnTo>
                  <a:lnTo>
                    <a:pt x="12700" y="1085850"/>
                  </a:lnTo>
                  <a:cubicBezTo>
                    <a:pt x="12700" y="1146429"/>
                    <a:pt x="60071" y="1195197"/>
                    <a:pt x="117983" y="1195197"/>
                  </a:cubicBezTo>
                  <a:lnTo>
                    <a:pt x="160401" y="1195197"/>
                  </a:lnTo>
                  <a:cubicBezTo>
                    <a:pt x="218313" y="1195197"/>
                    <a:pt x="265684" y="1146429"/>
                    <a:pt x="265684" y="1085850"/>
                  </a:cubicBezTo>
                  <a:lnTo>
                    <a:pt x="265684" y="122047"/>
                  </a:lnTo>
                  <a:lnTo>
                    <a:pt x="272034" y="122047"/>
                  </a:lnTo>
                  <a:lnTo>
                    <a:pt x="265684" y="122047"/>
                  </a:lnTo>
                  <a:cubicBezTo>
                    <a:pt x="265557" y="61468"/>
                    <a:pt x="218186" y="12700"/>
                    <a:pt x="160274" y="12700"/>
                  </a:cubicBezTo>
                  <a:lnTo>
                    <a:pt x="117983" y="12700"/>
                  </a:lnTo>
                  <a:lnTo>
                    <a:pt x="117983" y="6350"/>
                  </a:lnTo>
                  <a:lnTo>
                    <a:pt x="117983" y="12700"/>
                  </a:lnTo>
                  <a:cubicBezTo>
                    <a:pt x="60071" y="12700"/>
                    <a:pt x="12700" y="61468"/>
                    <a:pt x="12700" y="12204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863301" y="4492828"/>
            <a:ext cx="607066" cy="607066"/>
            <a:chOff x="0" y="0"/>
            <a:chExt cx="809422" cy="8094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" y="6350"/>
              <a:ext cx="796671" cy="796671"/>
            </a:xfrm>
            <a:custGeom>
              <a:avLst/>
              <a:gdLst/>
              <a:ahLst/>
              <a:cxnLst/>
              <a:rect r="r" b="b" t="t" l="l"/>
              <a:pathLst>
                <a:path h="796671" w="796671">
                  <a:moveTo>
                    <a:pt x="0" y="398399"/>
                  </a:moveTo>
                  <a:cubicBezTo>
                    <a:pt x="0" y="178308"/>
                    <a:pt x="178308" y="0"/>
                    <a:pt x="398399" y="0"/>
                  </a:cubicBezTo>
                  <a:cubicBezTo>
                    <a:pt x="618490" y="0"/>
                    <a:pt x="796671" y="178308"/>
                    <a:pt x="796671" y="398399"/>
                  </a:cubicBezTo>
                  <a:cubicBezTo>
                    <a:pt x="796671" y="618490"/>
                    <a:pt x="618363" y="796671"/>
                    <a:pt x="398399" y="796671"/>
                  </a:cubicBezTo>
                  <a:cubicBezTo>
                    <a:pt x="178435" y="796671"/>
                    <a:pt x="0" y="618363"/>
                    <a:pt x="0" y="39839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9498" cy="809498"/>
            </a:xfrm>
            <a:custGeom>
              <a:avLst/>
              <a:gdLst/>
              <a:ahLst/>
              <a:cxnLst/>
              <a:rect r="r" b="b" t="t" l="l"/>
              <a:pathLst>
                <a:path h="809498" w="809498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cubicBezTo>
                    <a:pt x="405892" y="0"/>
                    <a:pt x="407162" y="381"/>
                    <a:pt x="408178" y="1016"/>
                  </a:cubicBezTo>
                  <a:lnTo>
                    <a:pt x="404749" y="6350"/>
                  </a:lnTo>
                  <a:lnTo>
                    <a:pt x="404749" y="0"/>
                  </a:lnTo>
                  <a:lnTo>
                    <a:pt x="404749" y="6350"/>
                  </a:ln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cubicBezTo>
                    <a:pt x="809498" y="406781"/>
                    <a:pt x="808609" y="408686"/>
                    <a:pt x="806958" y="409829"/>
                  </a:cubicBezTo>
                  <a:lnTo>
                    <a:pt x="803148" y="404749"/>
                  </a:lnTo>
                  <a:lnTo>
                    <a:pt x="809498" y="404749"/>
                  </a:lnTo>
                  <a:cubicBezTo>
                    <a:pt x="809498" y="628269"/>
                    <a:pt x="628269" y="809498"/>
                    <a:pt x="404749" y="809498"/>
                  </a:cubicBezTo>
                  <a:lnTo>
                    <a:pt x="404749" y="803148"/>
                  </a:lnTo>
                  <a:lnTo>
                    <a:pt x="404749" y="809498"/>
                  </a:lnTo>
                  <a:cubicBezTo>
                    <a:pt x="181229" y="809371"/>
                    <a:pt x="0" y="628269"/>
                    <a:pt x="0" y="404749"/>
                  </a:cubicBezTo>
                  <a:lnTo>
                    <a:pt x="6350" y="404749"/>
                  </a:lnTo>
                  <a:lnTo>
                    <a:pt x="0" y="404749"/>
                  </a:lnTo>
                  <a:moveTo>
                    <a:pt x="12700" y="404749"/>
                  </a:moveTo>
                  <a:lnTo>
                    <a:pt x="6350" y="404749"/>
                  </a:lnTo>
                  <a:lnTo>
                    <a:pt x="12700" y="404749"/>
                  </a:lnTo>
                  <a:cubicBezTo>
                    <a:pt x="12700" y="621157"/>
                    <a:pt x="188214" y="796671"/>
                    <a:pt x="404749" y="796671"/>
                  </a:cubicBezTo>
                  <a:cubicBezTo>
                    <a:pt x="621284" y="796671"/>
                    <a:pt x="796671" y="621157"/>
                    <a:pt x="796671" y="404749"/>
                  </a:cubicBezTo>
                  <a:cubicBezTo>
                    <a:pt x="796671" y="402717"/>
                    <a:pt x="797560" y="400812"/>
                    <a:pt x="799211" y="399669"/>
                  </a:cubicBezTo>
                  <a:lnTo>
                    <a:pt x="803021" y="404749"/>
                  </a:lnTo>
                  <a:lnTo>
                    <a:pt x="796671" y="404749"/>
                  </a:lnTo>
                  <a:cubicBezTo>
                    <a:pt x="796671" y="188214"/>
                    <a:pt x="621157" y="12700"/>
                    <a:pt x="404749" y="12700"/>
                  </a:cubicBezTo>
                  <a:cubicBezTo>
                    <a:pt x="403606" y="12700"/>
                    <a:pt x="402336" y="12319"/>
                    <a:pt x="401320" y="11684"/>
                  </a:cubicBezTo>
                  <a:lnTo>
                    <a:pt x="404749" y="6350"/>
                  </a:lnTo>
                  <a:lnTo>
                    <a:pt x="404749" y="12700"/>
                  </a:lnTo>
                  <a:cubicBezTo>
                    <a:pt x="188214" y="12700"/>
                    <a:pt x="12700" y="188214"/>
                    <a:pt x="12700" y="40474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3017491" y="4647009"/>
            <a:ext cx="298694" cy="298694"/>
          </a:xfrm>
          <a:custGeom>
            <a:avLst/>
            <a:gdLst/>
            <a:ahLst/>
            <a:cxnLst/>
            <a:rect r="r" b="b" t="t" l="l"/>
            <a:pathLst>
              <a:path h="298694" w="298694">
                <a:moveTo>
                  <a:pt x="0" y="0"/>
                </a:moveTo>
                <a:lnTo>
                  <a:pt x="298695" y="0"/>
                </a:lnTo>
                <a:lnTo>
                  <a:pt x="298695" y="298695"/>
                </a:lnTo>
                <a:lnTo>
                  <a:pt x="0" y="2986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687" t="0" r="-4687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605508" y="4509640"/>
            <a:ext cx="2591991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Conversational Mode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605508" y="4895259"/>
            <a:ext cx="12411818" cy="299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 continues via text, voice, or file upload in natural flow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3361287" y="5958630"/>
            <a:ext cx="208655" cy="905913"/>
            <a:chOff x="0" y="0"/>
            <a:chExt cx="278206" cy="12078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350" y="6350"/>
              <a:ext cx="265684" cy="1195197"/>
            </a:xfrm>
            <a:custGeom>
              <a:avLst/>
              <a:gdLst/>
              <a:ahLst/>
              <a:cxnLst/>
              <a:rect r="r" b="b" t="t" l="l"/>
              <a:pathLst>
                <a:path h="1195197" w="265684">
                  <a:moveTo>
                    <a:pt x="0" y="115697"/>
                  </a:moveTo>
                  <a:cubicBezTo>
                    <a:pt x="0" y="51816"/>
                    <a:pt x="49911" y="0"/>
                    <a:pt x="111633" y="0"/>
                  </a:cubicBezTo>
                  <a:lnTo>
                    <a:pt x="154051" y="0"/>
                  </a:lnTo>
                  <a:cubicBezTo>
                    <a:pt x="215646" y="0"/>
                    <a:pt x="265684" y="51816"/>
                    <a:pt x="265684" y="115697"/>
                  </a:cubicBezTo>
                  <a:lnTo>
                    <a:pt x="265684" y="1079500"/>
                  </a:lnTo>
                  <a:cubicBezTo>
                    <a:pt x="265684" y="1143381"/>
                    <a:pt x="215773" y="1195197"/>
                    <a:pt x="154051" y="1195197"/>
                  </a:cubicBezTo>
                  <a:lnTo>
                    <a:pt x="111633" y="1195197"/>
                  </a:lnTo>
                  <a:cubicBezTo>
                    <a:pt x="49911" y="1195197"/>
                    <a:pt x="0" y="1143381"/>
                    <a:pt x="0" y="107950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8384" cy="1207897"/>
            </a:xfrm>
            <a:custGeom>
              <a:avLst/>
              <a:gdLst/>
              <a:ahLst/>
              <a:cxnLst/>
              <a:rect r="r" b="b" t="t" l="l"/>
              <a:pathLst>
                <a:path h="1207897" w="278384">
                  <a:moveTo>
                    <a:pt x="0" y="122047"/>
                  </a:moveTo>
                  <a:cubicBezTo>
                    <a:pt x="0" y="54864"/>
                    <a:pt x="52578" y="0"/>
                    <a:pt x="117983" y="0"/>
                  </a:cubicBezTo>
                  <a:lnTo>
                    <a:pt x="160401" y="0"/>
                  </a:lnTo>
                  <a:lnTo>
                    <a:pt x="160401" y="6350"/>
                  </a:lnTo>
                  <a:lnTo>
                    <a:pt x="160401" y="0"/>
                  </a:lnTo>
                  <a:lnTo>
                    <a:pt x="160401" y="6350"/>
                  </a:lnTo>
                  <a:lnTo>
                    <a:pt x="160401" y="0"/>
                  </a:lnTo>
                  <a:cubicBezTo>
                    <a:pt x="225679" y="0"/>
                    <a:pt x="278384" y="54864"/>
                    <a:pt x="278384" y="122047"/>
                  </a:cubicBezTo>
                  <a:lnTo>
                    <a:pt x="278384" y="1085850"/>
                  </a:lnTo>
                  <a:lnTo>
                    <a:pt x="272034" y="1085850"/>
                  </a:lnTo>
                  <a:lnTo>
                    <a:pt x="278384" y="1085850"/>
                  </a:lnTo>
                  <a:cubicBezTo>
                    <a:pt x="278384" y="1153033"/>
                    <a:pt x="225806" y="1207897"/>
                    <a:pt x="160401" y="1207897"/>
                  </a:cubicBezTo>
                  <a:lnTo>
                    <a:pt x="160401" y="1201547"/>
                  </a:lnTo>
                  <a:lnTo>
                    <a:pt x="160401" y="1207897"/>
                  </a:lnTo>
                  <a:lnTo>
                    <a:pt x="117983" y="1207897"/>
                  </a:lnTo>
                  <a:lnTo>
                    <a:pt x="117983" y="1201547"/>
                  </a:lnTo>
                  <a:lnTo>
                    <a:pt x="117983" y="1207897"/>
                  </a:lnTo>
                  <a:cubicBezTo>
                    <a:pt x="52578" y="1207897"/>
                    <a:pt x="0" y="1153033"/>
                    <a:pt x="0" y="1085850"/>
                  </a:cubicBezTo>
                  <a:lnTo>
                    <a:pt x="0" y="122047"/>
                  </a:lnTo>
                  <a:lnTo>
                    <a:pt x="6350" y="122047"/>
                  </a:lnTo>
                  <a:lnTo>
                    <a:pt x="0" y="122047"/>
                  </a:lnTo>
                  <a:moveTo>
                    <a:pt x="12700" y="122047"/>
                  </a:moveTo>
                  <a:lnTo>
                    <a:pt x="12700" y="1085850"/>
                  </a:lnTo>
                  <a:lnTo>
                    <a:pt x="6350" y="1085850"/>
                  </a:lnTo>
                  <a:lnTo>
                    <a:pt x="12700" y="1085850"/>
                  </a:lnTo>
                  <a:cubicBezTo>
                    <a:pt x="12700" y="1146429"/>
                    <a:pt x="60071" y="1195197"/>
                    <a:pt x="117983" y="1195197"/>
                  </a:cubicBezTo>
                  <a:lnTo>
                    <a:pt x="160401" y="1195197"/>
                  </a:lnTo>
                  <a:cubicBezTo>
                    <a:pt x="218313" y="1195197"/>
                    <a:pt x="265684" y="1146429"/>
                    <a:pt x="265684" y="1085850"/>
                  </a:cubicBezTo>
                  <a:lnTo>
                    <a:pt x="265684" y="122047"/>
                  </a:lnTo>
                  <a:lnTo>
                    <a:pt x="272034" y="122047"/>
                  </a:lnTo>
                  <a:lnTo>
                    <a:pt x="265684" y="122047"/>
                  </a:lnTo>
                  <a:cubicBezTo>
                    <a:pt x="265557" y="61468"/>
                    <a:pt x="218186" y="12700"/>
                    <a:pt x="160274" y="12700"/>
                  </a:cubicBezTo>
                  <a:lnTo>
                    <a:pt x="117983" y="12700"/>
                  </a:lnTo>
                  <a:lnTo>
                    <a:pt x="117983" y="6350"/>
                  </a:lnTo>
                  <a:lnTo>
                    <a:pt x="117983" y="12700"/>
                  </a:lnTo>
                  <a:cubicBezTo>
                    <a:pt x="60071" y="12700"/>
                    <a:pt x="12700" y="61468"/>
                    <a:pt x="12700" y="12204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162148" y="5827957"/>
            <a:ext cx="607066" cy="607066"/>
            <a:chOff x="0" y="0"/>
            <a:chExt cx="809422" cy="80942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6350" y="6350"/>
              <a:ext cx="796671" cy="796671"/>
            </a:xfrm>
            <a:custGeom>
              <a:avLst/>
              <a:gdLst/>
              <a:ahLst/>
              <a:cxnLst/>
              <a:rect r="r" b="b" t="t" l="l"/>
              <a:pathLst>
                <a:path h="796671" w="796671">
                  <a:moveTo>
                    <a:pt x="0" y="398399"/>
                  </a:moveTo>
                  <a:cubicBezTo>
                    <a:pt x="0" y="178308"/>
                    <a:pt x="178308" y="0"/>
                    <a:pt x="398399" y="0"/>
                  </a:cubicBezTo>
                  <a:cubicBezTo>
                    <a:pt x="618490" y="0"/>
                    <a:pt x="796671" y="178308"/>
                    <a:pt x="796671" y="398399"/>
                  </a:cubicBezTo>
                  <a:cubicBezTo>
                    <a:pt x="796671" y="618490"/>
                    <a:pt x="618363" y="796671"/>
                    <a:pt x="398399" y="796671"/>
                  </a:cubicBezTo>
                  <a:cubicBezTo>
                    <a:pt x="178435" y="796671"/>
                    <a:pt x="0" y="618363"/>
                    <a:pt x="0" y="39839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09498" cy="809498"/>
            </a:xfrm>
            <a:custGeom>
              <a:avLst/>
              <a:gdLst/>
              <a:ahLst/>
              <a:cxnLst/>
              <a:rect r="r" b="b" t="t" l="l"/>
              <a:pathLst>
                <a:path h="809498" w="809498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cubicBezTo>
                    <a:pt x="405892" y="0"/>
                    <a:pt x="407162" y="381"/>
                    <a:pt x="408178" y="1016"/>
                  </a:cubicBezTo>
                  <a:lnTo>
                    <a:pt x="404749" y="6350"/>
                  </a:lnTo>
                  <a:lnTo>
                    <a:pt x="404749" y="0"/>
                  </a:lnTo>
                  <a:lnTo>
                    <a:pt x="404749" y="6350"/>
                  </a:ln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cubicBezTo>
                    <a:pt x="809498" y="406781"/>
                    <a:pt x="808609" y="408686"/>
                    <a:pt x="806958" y="409829"/>
                  </a:cubicBezTo>
                  <a:lnTo>
                    <a:pt x="803148" y="404749"/>
                  </a:lnTo>
                  <a:lnTo>
                    <a:pt x="809498" y="404749"/>
                  </a:lnTo>
                  <a:cubicBezTo>
                    <a:pt x="809498" y="628269"/>
                    <a:pt x="628269" y="809498"/>
                    <a:pt x="404749" y="809498"/>
                  </a:cubicBezTo>
                  <a:lnTo>
                    <a:pt x="404749" y="803148"/>
                  </a:lnTo>
                  <a:lnTo>
                    <a:pt x="404749" y="809498"/>
                  </a:lnTo>
                  <a:cubicBezTo>
                    <a:pt x="181229" y="809371"/>
                    <a:pt x="0" y="628269"/>
                    <a:pt x="0" y="404749"/>
                  </a:cubicBezTo>
                  <a:lnTo>
                    <a:pt x="6350" y="404749"/>
                  </a:lnTo>
                  <a:lnTo>
                    <a:pt x="0" y="404749"/>
                  </a:lnTo>
                  <a:moveTo>
                    <a:pt x="12700" y="404749"/>
                  </a:moveTo>
                  <a:lnTo>
                    <a:pt x="6350" y="404749"/>
                  </a:lnTo>
                  <a:lnTo>
                    <a:pt x="12700" y="404749"/>
                  </a:lnTo>
                  <a:cubicBezTo>
                    <a:pt x="12700" y="621157"/>
                    <a:pt x="188214" y="796671"/>
                    <a:pt x="404749" y="796671"/>
                  </a:cubicBezTo>
                  <a:cubicBezTo>
                    <a:pt x="621284" y="796671"/>
                    <a:pt x="796671" y="621157"/>
                    <a:pt x="796671" y="404749"/>
                  </a:cubicBezTo>
                  <a:cubicBezTo>
                    <a:pt x="796671" y="402717"/>
                    <a:pt x="797560" y="400812"/>
                    <a:pt x="799211" y="399669"/>
                  </a:cubicBezTo>
                  <a:lnTo>
                    <a:pt x="803021" y="404749"/>
                  </a:lnTo>
                  <a:lnTo>
                    <a:pt x="796671" y="404749"/>
                  </a:lnTo>
                  <a:cubicBezTo>
                    <a:pt x="796671" y="188214"/>
                    <a:pt x="621157" y="12700"/>
                    <a:pt x="404749" y="12700"/>
                  </a:cubicBezTo>
                  <a:cubicBezTo>
                    <a:pt x="403606" y="12700"/>
                    <a:pt x="402336" y="12319"/>
                    <a:pt x="401320" y="11684"/>
                  </a:cubicBezTo>
                  <a:lnTo>
                    <a:pt x="404749" y="6350"/>
                  </a:lnTo>
                  <a:lnTo>
                    <a:pt x="404749" y="12700"/>
                  </a:lnTo>
                  <a:cubicBezTo>
                    <a:pt x="188214" y="12700"/>
                    <a:pt x="12700" y="188214"/>
                    <a:pt x="12700" y="40474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3316338" y="5982148"/>
            <a:ext cx="298694" cy="298694"/>
          </a:xfrm>
          <a:custGeom>
            <a:avLst/>
            <a:gdLst/>
            <a:ahLst/>
            <a:cxnLst/>
            <a:rect r="r" b="b" t="t" l="l"/>
            <a:pathLst>
              <a:path h="298694" w="298694">
                <a:moveTo>
                  <a:pt x="0" y="0"/>
                </a:moveTo>
                <a:lnTo>
                  <a:pt x="298695" y="0"/>
                </a:lnTo>
                <a:lnTo>
                  <a:pt x="298695" y="298694"/>
                </a:lnTo>
                <a:lnTo>
                  <a:pt x="0" y="2986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1875" r="0" b="-21875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3904355" y="5844778"/>
            <a:ext cx="2490340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Context Fusion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904355" y="6230388"/>
            <a:ext cx="12112971" cy="299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Voice emotion, text sentiment, and intent combine into unified understanding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062440" y="7293769"/>
            <a:ext cx="208655" cy="905913"/>
            <a:chOff x="0" y="0"/>
            <a:chExt cx="278206" cy="12078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6350" y="6350"/>
              <a:ext cx="265684" cy="1195197"/>
            </a:xfrm>
            <a:custGeom>
              <a:avLst/>
              <a:gdLst/>
              <a:ahLst/>
              <a:cxnLst/>
              <a:rect r="r" b="b" t="t" l="l"/>
              <a:pathLst>
                <a:path h="1195197" w="265684">
                  <a:moveTo>
                    <a:pt x="0" y="115697"/>
                  </a:moveTo>
                  <a:cubicBezTo>
                    <a:pt x="0" y="51816"/>
                    <a:pt x="49911" y="0"/>
                    <a:pt x="111633" y="0"/>
                  </a:cubicBezTo>
                  <a:lnTo>
                    <a:pt x="154051" y="0"/>
                  </a:lnTo>
                  <a:cubicBezTo>
                    <a:pt x="215646" y="0"/>
                    <a:pt x="265684" y="51816"/>
                    <a:pt x="265684" y="115697"/>
                  </a:cubicBezTo>
                  <a:lnTo>
                    <a:pt x="265684" y="1079500"/>
                  </a:lnTo>
                  <a:cubicBezTo>
                    <a:pt x="265684" y="1143381"/>
                    <a:pt x="215773" y="1195197"/>
                    <a:pt x="154051" y="1195197"/>
                  </a:cubicBezTo>
                  <a:lnTo>
                    <a:pt x="111633" y="1195197"/>
                  </a:lnTo>
                  <a:cubicBezTo>
                    <a:pt x="49911" y="1195197"/>
                    <a:pt x="0" y="1143381"/>
                    <a:pt x="0" y="107950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8384" cy="1207897"/>
            </a:xfrm>
            <a:custGeom>
              <a:avLst/>
              <a:gdLst/>
              <a:ahLst/>
              <a:cxnLst/>
              <a:rect r="r" b="b" t="t" l="l"/>
              <a:pathLst>
                <a:path h="1207897" w="278384">
                  <a:moveTo>
                    <a:pt x="0" y="122047"/>
                  </a:moveTo>
                  <a:cubicBezTo>
                    <a:pt x="0" y="54864"/>
                    <a:pt x="52578" y="0"/>
                    <a:pt x="117983" y="0"/>
                  </a:cubicBezTo>
                  <a:lnTo>
                    <a:pt x="160401" y="0"/>
                  </a:lnTo>
                  <a:lnTo>
                    <a:pt x="160401" y="6350"/>
                  </a:lnTo>
                  <a:lnTo>
                    <a:pt x="160401" y="0"/>
                  </a:lnTo>
                  <a:lnTo>
                    <a:pt x="160401" y="6350"/>
                  </a:lnTo>
                  <a:lnTo>
                    <a:pt x="160401" y="0"/>
                  </a:lnTo>
                  <a:cubicBezTo>
                    <a:pt x="225679" y="0"/>
                    <a:pt x="278384" y="54864"/>
                    <a:pt x="278384" y="122047"/>
                  </a:cubicBezTo>
                  <a:lnTo>
                    <a:pt x="278384" y="1085850"/>
                  </a:lnTo>
                  <a:lnTo>
                    <a:pt x="272034" y="1085850"/>
                  </a:lnTo>
                  <a:lnTo>
                    <a:pt x="278384" y="1085850"/>
                  </a:lnTo>
                  <a:cubicBezTo>
                    <a:pt x="278384" y="1153033"/>
                    <a:pt x="225806" y="1207897"/>
                    <a:pt x="160401" y="1207897"/>
                  </a:cubicBezTo>
                  <a:lnTo>
                    <a:pt x="160401" y="1201547"/>
                  </a:lnTo>
                  <a:lnTo>
                    <a:pt x="160401" y="1207897"/>
                  </a:lnTo>
                  <a:lnTo>
                    <a:pt x="117983" y="1207897"/>
                  </a:lnTo>
                  <a:lnTo>
                    <a:pt x="117983" y="1201547"/>
                  </a:lnTo>
                  <a:lnTo>
                    <a:pt x="117983" y="1207897"/>
                  </a:lnTo>
                  <a:cubicBezTo>
                    <a:pt x="52578" y="1207897"/>
                    <a:pt x="0" y="1153033"/>
                    <a:pt x="0" y="1085850"/>
                  </a:cubicBezTo>
                  <a:lnTo>
                    <a:pt x="0" y="122047"/>
                  </a:lnTo>
                  <a:lnTo>
                    <a:pt x="6350" y="122047"/>
                  </a:lnTo>
                  <a:lnTo>
                    <a:pt x="0" y="122047"/>
                  </a:lnTo>
                  <a:moveTo>
                    <a:pt x="12700" y="122047"/>
                  </a:moveTo>
                  <a:lnTo>
                    <a:pt x="12700" y="1085850"/>
                  </a:lnTo>
                  <a:lnTo>
                    <a:pt x="6350" y="1085850"/>
                  </a:lnTo>
                  <a:lnTo>
                    <a:pt x="12700" y="1085850"/>
                  </a:lnTo>
                  <a:cubicBezTo>
                    <a:pt x="12700" y="1146429"/>
                    <a:pt x="60071" y="1195197"/>
                    <a:pt x="117983" y="1195197"/>
                  </a:cubicBezTo>
                  <a:lnTo>
                    <a:pt x="160401" y="1195197"/>
                  </a:lnTo>
                  <a:cubicBezTo>
                    <a:pt x="218313" y="1195197"/>
                    <a:pt x="265684" y="1146429"/>
                    <a:pt x="265684" y="1085850"/>
                  </a:cubicBezTo>
                  <a:lnTo>
                    <a:pt x="265684" y="122047"/>
                  </a:lnTo>
                  <a:lnTo>
                    <a:pt x="272034" y="122047"/>
                  </a:lnTo>
                  <a:lnTo>
                    <a:pt x="265684" y="122047"/>
                  </a:lnTo>
                  <a:cubicBezTo>
                    <a:pt x="265557" y="61468"/>
                    <a:pt x="218186" y="12700"/>
                    <a:pt x="160274" y="12700"/>
                  </a:cubicBezTo>
                  <a:lnTo>
                    <a:pt x="117983" y="12700"/>
                  </a:lnTo>
                  <a:lnTo>
                    <a:pt x="117983" y="6350"/>
                  </a:lnTo>
                  <a:lnTo>
                    <a:pt x="117983" y="12700"/>
                  </a:lnTo>
                  <a:cubicBezTo>
                    <a:pt x="60071" y="12700"/>
                    <a:pt x="12700" y="61468"/>
                    <a:pt x="12700" y="12204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863301" y="7163095"/>
            <a:ext cx="607066" cy="607066"/>
            <a:chOff x="0" y="0"/>
            <a:chExt cx="809422" cy="80942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6350" y="6350"/>
              <a:ext cx="796671" cy="796671"/>
            </a:xfrm>
            <a:custGeom>
              <a:avLst/>
              <a:gdLst/>
              <a:ahLst/>
              <a:cxnLst/>
              <a:rect r="r" b="b" t="t" l="l"/>
              <a:pathLst>
                <a:path h="796671" w="796671">
                  <a:moveTo>
                    <a:pt x="0" y="398399"/>
                  </a:moveTo>
                  <a:cubicBezTo>
                    <a:pt x="0" y="178308"/>
                    <a:pt x="178308" y="0"/>
                    <a:pt x="398399" y="0"/>
                  </a:cubicBezTo>
                  <a:cubicBezTo>
                    <a:pt x="618490" y="0"/>
                    <a:pt x="796671" y="178308"/>
                    <a:pt x="796671" y="398399"/>
                  </a:cubicBezTo>
                  <a:cubicBezTo>
                    <a:pt x="796671" y="618490"/>
                    <a:pt x="618363" y="796671"/>
                    <a:pt x="398399" y="796671"/>
                  </a:cubicBezTo>
                  <a:cubicBezTo>
                    <a:pt x="178435" y="796671"/>
                    <a:pt x="0" y="618363"/>
                    <a:pt x="0" y="39839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09498" cy="809498"/>
            </a:xfrm>
            <a:custGeom>
              <a:avLst/>
              <a:gdLst/>
              <a:ahLst/>
              <a:cxnLst/>
              <a:rect r="r" b="b" t="t" l="l"/>
              <a:pathLst>
                <a:path h="809498" w="809498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cubicBezTo>
                    <a:pt x="405892" y="0"/>
                    <a:pt x="407162" y="381"/>
                    <a:pt x="408178" y="1016"/>
                  </a:cubicBezTo>
                  <a:lnTo>
                    <a:pt x="404749" y="6350"/>
                  </a:lnTo>
                  <a:lnTo>
                    <a:pt x="404749" y="0"/>
                  </a:lnTo>
                  <a:lnTo>
                    <a:pt x="404749" y="6350"/>
                  </a:ln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cubicBezTo>
                    <a:pt x="809498" y="406781"/>
                    <a:pt x="808609" y="408686"/>
                    <a:pt x="806958" y="409829"/>
                  </a:cubicBezTo>
                  <a:lnTo>
                    <a:pt x="803148" y="404749"/>
                  </a:lnTo>
                  <a:lnTo>
                    <a:pt x="809498" y="404749"/>
                  </a:lnTo>
                  <a:cubicBezTo>
                    <a:pt x="809498" y="628269"/>
                    <a:pt x="628269" y="809498"/>
                    <a:pt x="404749" y="809498"/>
                  </a:cubicBezTo>
                  <a:lnTo>
                    <a:pt x="404749" y="803148"/>
                  </a:lnTo>
                  <a:lnTo>
                    <a:pt x="404749" y="809498"/>
                  </a:lnTo>
                  <a:cubicBezTo>
                    <a:pt x="181229" y="809371"/>
                    <a:pt x="0" y="628269"/>
                    <a:pt x="0" y="404749"/>
                  </a:cubicBezTo>
                  <a:lnTo>
                    <a:pt x="6350" y="404749"/>
                  </a:lnTo>
                  <a:lnTo>
                    <a:pt x="0" y="404749"/>
                  </a:lnTo>
                  <a:moveTo>
                    <a:pt x="12700" y="404749"/>
                  </a:moveTo>
                  <a:lnTo>
                    <a:pt x="6350" y="404749"/>
                  </a:lnTo>
                  <a:lnTo>
                    <a:pt x="12700" y="404749"/>
                  </a:lnTo>
                  <a:cubicBezTo>
                    <a:pt x="12700" y="621157"/>
                    <a:pt x="188214" y="796671"/>
                    <a:pt x="404749" y="796671"/>
                  </a:cubicBezTo>
                  <a:cubicBezTo>
                    <a:pt x="621284" y="796671"/>
                    <a:pt x="796671" y="621157"/>
                    <a:pt x="796671" y="404749"/>
                  </a:cubicBezTo>
                  <a:cubicBezTo>
                    <a:pt x="796671" y="402717"/>
                    <a:pt x="797560" y="400812"/>
                    <a:pt x="799211" y="399669"/>
                  </a:cubicBezTo>
                  <a:lnTo>
                    <a:pt x="803021" y="404749"/>
                  </a:lnTo>
                  <a:lnTo>
                    <a:pt x="796671" y="404749"/>
                  </a:lnTo>
                  <a:cubicBezTo>
                    <a:pt x="796671" y="188214"/>
                    <a:pt x="621157" y="12700"/>
                    <a:pt x="404749" y="12700"/>
                  </a:cubicBezTo>
                  <a:cubicBezTo>
                    <a:pt x="403606" y="12700"/>
                    <a:pt x="402336" y="12319"/>
                    <a:pt x="401320" y="11684"/>
                  </a:cubicBezTo>
                  <a:lnTo>
                    <a:pt x="404749" y="6350"/>
                  </a:lnTo>
                  <a:lnTo>
                    <a:pt x="404749" y="12700"/>
                  </a:lnTo>
                  <a:cubicBezTo>
                    <a:pt x="188214" y="12700"/>
                    <a:pt x="12700" y="188214"/>
                    <a:pt x="12700" y="40474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Freeform 49" id="49" descr="preencoded.png"/>
          <p:cNvSpPr/>
          <p:nvPr/>
        </p:nvSpPr>
        <p:spPr>
          <a:xfrm flipH="false" flipV="false" rot="0">
            <a:off x="3017491" y="7317286"/>
            <a:ext cx="298694" cy="298694"/>
          </a:xfrm>
          <a:custGeom>
            <a:avLst/>
            <a:gdLst/>
            <a:ahLst/>
            <a:cxnLst/>
            <a:rect r="r" b="b" t="t" l="l"/>
            <a:pathLst>
              <a:path h="298694" w="298694">
                <a:moveTo>
                  <a:pt x="0" y="0"/>
                </a:moveTo>
                <a:lnTo>
                  <a:pt x="298695" y="0"/>
                </a:lnTo>
                <a:lnTo>
                  <a:pt x="298695" y="298694"/>
                </a:lnTo>
                <a:lnTo>
                  <a:pt x="0" y="2986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7812" r="0" b="-7812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3605508" y="7179916"/>
            <a:ext cx="2490340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Smart Response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605508" y="7565527"/>
            <a:ext cx="12411818" cy="299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Assistant replies in emotional context with relevant resources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2763593" y="8628907"/>
            <a:ext cx="208655" cy="905913"/>
            <a:chOff x="0" y="0"/>
            <a:chExt cx="278206" cy="12078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6350" y="6350"/>
              <a:ext cx="265684" cy="1195197"/>
            </a:xfrm>
            <a:custGeom>
              <a:avLst/>
              <a:gdLst/>
              <a:ahLst/>
              <a:cxnLst/>
              <a:rect r="r" b="b" t="t" l="l"/>
              <a:pathLst>
                <a:path h="1195197" w="265684">
                  <a:moveTo>
                    <a:pt x="0" y="115697"/>
                  </a:moveTo>
                  <a:cubicBezTo>
                    <a:pt x="0" y="51816"/>
                    <a:pt x="49911" y="0"/>
                    <a:pt x="111633" y="0"/>
                  </a:cubicBezTo>
                  <a:lnTo>
                    <a:pt x="154051" y="0"/>
                  </a:lnTo>
                  <a:cubicBezTo>
                    <a:pt x="215646" y="0"/>
                    <a:pt x="265684" y="51816"/>
                    <a:pt x="265684" y="115697"/>
                  </a:cubicBezTo>
                  <a:lnTo>
                    <a:pt x="265684" y="1079500"/>
                  </a:lnTo>
                  <a:cubicBezTo>
                    <a:pt x="265684" y="1143381"/>
                    <a:pt x="215773" y="1195197"/>
                    <a:pt x="154051" y="1195197"/>
                  </a:cubicBezTo>
                  <a:lnTo>
                    <a:pt x="111633" y="1195197"/>
                  </a:lnTo>
                  <a:cubicBezTo>
                    <a:pt x="49911" y="1195197"/>
                    <a:pt x="0" y="1143381"/>
                    <a:pt x="0" y="107950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78384" cy="1207897"/>
            </a:xfrm>
            <a:custGeom>
              <a:avLst/>
              <a:gdLst/>
              <a:ahLst/>
              <a:cxnLst/>
              <a:rect r="r" b="b" t="t" l="l"/>
              <a:pathLst>
                <a:path h="1207897" w="278384">
                  <a:moveTo>
                    <a:pt x="0" y="122047"/>
                  </a:moveTo>
                  <a:cubicBezTo>
                    <a:pt x="0" y="54864"/>
                    <a:pt x="52578" y="0"/>
                    <a:pt x="117983" y="0"/>
                  </a:cubicBezTo>
                  <a:lnTo>
                    <a:pt x="160401" y="0"/>
                  </a:lnTo>
                  <a:lnTo>
                    <a:pt x="160401" y="6350"/>
                  </a:lnTo>
                  <a:lnTo>
                    <a:pt x="160401" y="0"/>
                  </a:lnTo>
                  <a:lnTo>
                    <a:pt x="160401" y="6350"/>
                  </a:lnTo>
                  <a:lnTo>
                    <a:pt x="160401" y="0"/>
                  </a:lnTo>
                  <a:cubicBezTo>
                    <a:pt x="225679" y="0"/>
                    <a:pt x="278384" y="54864"/>
                    <a:pt x="278384" y="122047"/>
                  </a:cubicBezTo>
                  <a:lnTo>
                    <a:pt x="278384" y="1085850"/>
                  </a:lnTo>
                  <a:lnTo>
                    <a:pt x="272034" y="1085850"/>
                  </a:lnTo>
                  <a:lnTo>
                    <a:pt x="278384" y="1085850"/>
                  </a:lnTo>
                  <a:cubicBezTo>
                    <a:pt x="278384" y="1153033"/>
                    <a:pt x="225806" y="1207897"/>
                    <a:pt x="160401" y="1207897"/>
                  </a:cubicBezTo>
                  <a:lnTo>
                    <a:pt x="160401" y="1201547"/>
                  </a:lnTo>
                  <a:lnTo>
                    <a:pt x="160401" y="1207897"/>
                  </a:lnTo>
                  <a:lnTo>
                    <a:pt x="117983" y="1207897"/>
                  </a:lnTo>
                  <a:lnTo>
                    <a:pt x="117983" y="1201547"/>
                  </a:lnTo>
                  <a:lnTo>
                    <a:pt x="117983" y="1207897"/>
                  </a:lnTo>
                  <a:cubicBezTo>
                    <a:pt x="52578" y="1207897"/>
                    <a:pt x="0" y="1153033"/>
                    <a:pt x="0" y="1085850"/>
                  </a:cubicBezTo>
                  <a:lnTo>
                    <a:pt x="0" y="122047"/>
                  </a:lnTo>
                  <a:lnTo>
                    <a:pt x="6350" y="122047"/>
                  </a:lnTo>
                  <a:lnTo>
                    <a:pt x="0" y="122047"/>
                  </a:lnTo>
                  <a:moveTo>
                    <a:pt x="12700" y="122047"/>
                  </a:moveTo>
                  <a:lnTo>
                    <a:pt x="12700" y="1085850"/>
                  </a:lnTo>
                  <a:lnTo>
                    <a:pt x="6350" y="1085850"/>
                  </a:lnTo>
                  <a:lnTo>
                    <a:pt x="12700" y="1085850"/>
                  </a:lnTo>
                  <a:cubicBezTo>
                    <a:pt x="12700" y="1146429"/>
                    <a:pt x="60071" y="1195197"/>
                    <a:pt x="117983" y="1195197"/>
                  </a:cubicBezTo>
                  <a:lnTo>
                    <a:pt x="160401" y="1195197"/>
                  </a:lnTo>
                  <a:cubicBezTo>
                    <a:pt x="218313" y="1195197"/>
                    <a:pt x="265684" y="1146429"/>
                    <a:pt x="265684" y="1085850"/>
                  </a:cubicBezTo>
                  <a:lnTo>
                    <a:pt x="265684" y="122047"/>
                  </a:lnTo>
                  <a:lnTo>
                    <a:pt x="272034" y="122047"/>
                  </a:lnTo>
                  <a:lnTo>
                    <a:pt x="265684" y="122047"/>
                  </a:lnTo>
                  <a:cubicBezTo>
                    <a:pt x="265557" y="61468"/>
                    <a:pt x="218186" y="12700"/>
                    <a:pt x="160274" y="12700"/>
                  </a:cubicBezTo>
                  <a:lnTo>
                    <a:pt x="117983" y="12700"/>
                  </a:lnTo>
                  <a:lnTo>
                    <a:pt x="117983" y="6350"/>
                  </a:lnTo>
                  <a:lnTo>
                    <a:pt x="117983" y="12700"/>
                  </a:lnTo>
                  <a:cubicBezTo>
                    <a:pt x="60071" y="12700"/>
                    <a:pt x="12700" y="61468"/>
                    <a:pt x="12700" y="12204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2564454" y="8498234"/>
            <a:ext cx="607066" cy="607066"/>
            <a:chOff x="0" y="0"/>
            <a:chExt cx="809422" cy="80942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6350" y="6350"/>
              <a:ext cx="796671" cy="796671"/>
            </a:xfrm>
            <a:custGeom>
              <a:avLst/>
              <a:gdLst/>
              <a:ahLst/>
              <a:cxnLst/>
              <a:rect r="r" b="b" t="t" l="l"/>
              <a:pathLst>
                <a:path h="796671" w="796671">
                  <a:moveTo>
                    <a:pt x="0" y="398399"/>
                  </a:moveTo>
                  <a:cubicBezTo>
                    <a:pt x="0" y="178308"/>
                    <a:pt x="178308" y="0"/>
                    <a:pt x="398399" y="0"/>
                  </a:cubicBezTo>
                  <a:cubicBezTo>
                    <a:pt x="618490" y="0"/>
                    <a:pt x="796671" y="178308"/>
                    <a:pt x="796671" y="398399"/>
                  </a:cubicBezTo>
                  <a:cubicBezTo>
                    <a:pt x="796671" y="618490"/>
                    <a:pt x="618363" y="796671"/>
                    <a:pt x="398399" y="796671"/>
                  </a:cubicBezTo>
                  <a:cubicBezTo>
                    <a:pt x="178435" y="796671"/>
                    <a:pt x="0" y="618363"/>
                    <a:pt x="0" y="39839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09498" cy="809498"/>
            </a:xfrm>
            <a:custGeom>
              <a:avLst/>
              <a:gdLst/>
              <a:ahLst/>
              <a:cxnLst/>
              <a:rect r="r" b="b" t="t" l="l"/>
              <a:pathLst>
                <a:path h="809498" w="809498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cubicBezTo>
                    <a:pt x="405892" y="0"/>
                    <a:pt x="407162" y="381"/>
                    <a:pt x="408178" y="1016"/>
                  </a:cubicBezTo>
                  <a:lnTo>
                    <a:pt x="404749" y="6350"/>
                  </a:lnTo>
                  <a:lnTo>
                    <a:pt x="404749" y="0"/>
                  </a:lnTo>
                  <a:lnTo>
                    <a:pt x="404749" y="6350"/>
                  </a:lnTo>
                  <a:lnTo>
                    <a:pt x="404749" y="0"/>
                  </a:lnTo>
                  <a:cubicBezTo>
                    <a:pt x="628269" y="0"/>
                    <a:pt x="809498" y="181229"/>
                    <a:pt x="809498" y="404749"/>
                  </a:cubicBezTo>
                  <a:cubicBezTo>
                    <a:pt x="809498" y="406781"/>
                    <a:pt x="808609" y="408686"/>
                    <a:pt x="806958" y="409829"/>
                  </a:cubicBezTo>
                  <a:lnTo>
                    <a:pt x="803148" y="404749"/>
                  </a:lnTo>
                  <a:lnTo>
                    <a:pt x="809498" y="404749"/>
                  </a:lnTo>
                  <a:cubicBezTo>
                    <a:pt x="809498" y="628269"/>
                    <a:pt x="628269" y="809498"/>
                    <a:pt x="404749" y="809498"/>
                  </a:cubicBezTo>
                  <a:lnTo>
                    <a:pt x="404749" y="803148"/>
                  </a:lnTo>
                  <a:lnTo>
                    <a:pt x="404749" y="809498"/>
                  </a:lnTo>
                  <a:cubicBezTo>
                    <a:pt x="181229" y="809371"/>
                    <a:pt x="0" y="628269"/>
                    <a:pt x="0" y="404749"/>
                  </a:cubicBezTo>
                  <a:lnTo>
                    <a:pt x="6350" y="404749"/>
                  </a:lnTo>
                  <a:lnTo>
                    <a:pt x="0" y="404749"/>
                  </a:lnTo>
                  <a:moveTo>
                    <a:pt x="12700" y="404749"/>
                  </a:moveTo>
                  <a:lnTo>
                    <a:pt x="6350" y="404749"/>
                  </a:lnTo>
                  <a:lnTo>
                    <a:pt x="12700" y="404749"/>
                  </a:lnTo>
                  <a:cubicBezTo>
                    <a:pt x="12700" y="621157"/>
                    <a:pt x="188214" y="796671"/>
                    <a:pt x="404749" y="796671"/>
                  </a:cubicBezTo>
                  <a:cubicBezTo>
                    <a:pt x="621284" y="796671"/>
                    <a:pt x="796671" y="621157"/>
                    <a:pt x="796671" y="404749"/>
                  </a:cubicBezTo>
                  <a:cubicBezTo>
                    <a:pt x="796671" y="402717"/>
                    <a:pt x="797560" y="400812"/>
                    <a:pt x="799211" y="399669"/>
                  </a:cubicBezTo>
                  <a:lnTo>
                    <a:pt x="803021" y="404749"/>
                  </a:lnTo>
                  <a:lnTo>
                    <a:pt x="796671" y="404749"/>
                  </a:lnTo>
                  <a:cubicBezTo>
                    <a:pt x="796671" y="188214"/>
                    <a:pt x="621157" y="12700"/>
                    <a:pt x="404749" y="12700"/>
                  </a:cubicBezTo>
                  <a:cubicBezTo>
                    <a:pt x="403606" y="12700"/>
                    <a:pt x="402336" y="12319"/>
                    <a:pt x="401320" y="11684"/>
                  </a:cubicBezTo>
                  <a:lnTo>
                    <a:pt x="404749" y="6350"/>
                  </a:lnTo>
                  <a:lnTo>
                    <a:pt x="404749" y="12700"/>
                  </a:lnTo>
                  <a:cubicBezTo>
                    <a:pt x="188214" y="12700"/>
                    <a:pt x="12700" y="188214"/>
                    <a:pt x="12700" y="40474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Freeform 58" id="58" descr="preencoded.png"/>
          <p:cNvSpPr/>
          <p:nvPr/>
        </p:nvSpPr>
        <p:spPr>
          <a:xfrm flipH="false" flipV="false" rot="0">
            <a:off x="2718645" y="8652424"/>
            <a:ext cx="298694" cy="298694"/>
          </a:xfrm>
          <a:custGeom>
            <a:avLst/>
            <a:gdLst/>
            <a:ahLst/>
            <a:cxnLst/>
            <a:rect r="r" b="b" t="t" l="l"/>
            <a:pathLst>
              <a:path h="298694" w="298694">
                <a:moveTo>
                  <a:pt x="0" y="0"/>
                </a:moveTo>
                <a:lnTo>
                  <a:pt x="298694" y="0"/>
                </a:lnTo>
                <a:lnTo>
                  <a:pt x="298694" y="298695"/>
                </a:lnTo>
                <a:lnTo>
                  <a:pt x="0" y="2986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3125" r="0" b="-3125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3306661" y="8515055"/>
            <a:ext cx="2490340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Session Report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306661" y="8900665"/>
            <a:ext cx="12710665" cy="299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Export conversation transcript and emotion analytics summary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3030" y="806796"/>
            <a:ext cx="6593834" cy="843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Core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3030" y="2536327"/>
            <a:ext cx="5317036" cy="3551482"/>
            <a:chOff x="0" y="0"/>
            <a:chExt cx="7089381" cy="4735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89394" cy="4735322"/>
            </a:xfrm>
            <a:custGeom>
              <a:avLst/>
              <a:gdLst/>
              <a:ahLst/>
              <a:cxnLst/>
              <a:rect r="r" b="b" t="t" l="l"/>
              <a:pathLst>
                <a:path h="4735322" w="708939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06514" y="0"/>
                  </a:lnTo>
                  <a:cubicBezTo>
                    <a:pt x="7007479" y="0"/>
                    <a:pt x="7089394" y="81915"/>
                    <a:pt x="7089394" y="182880"/>
                  </a:cubicBezTo>
                  <a:lnTo>
                    <a:pt x="7089394" y="4552442"/>
                  </a:lnTo>
                  <a:cubicBezTo>
                    <a:pt x="7089394" y="4653407"/>
                    <a:pt x="7007479" y="4735322"/>
                    <a:pt x="6906514" y="4735322"/>
                  </a:cubicBezTo>
                  <a:lnTo>
                    <a:pt x="182880" y="4735322"/>
                  </a:lnTo>
                  <a:cubicBezTo>
                    <a:pt x="81915" y="4735322"/>
                    <a:pt x="0" y="4653407"/>
                    <a:pt x="0" y="45524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23030" y="2507752"/>
            <a:ext cx="5317036" cy="114300"/>
            <a:chOff x="0" y="0"/>
            <a:chExt cx="7089381" cy="152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89394" cy="152400"/>
            </a:xfrm>
            <a:custGeom>
              <a:avLst/>
              <a:gdLst/>
              <a:ahLst/>
              <a:cxnLst/>
              <a:rect r="r" b="b" t="t" l="l"/>
              <a:pathLst>
                <a:path h="152400" w="708939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7013194" y="0"/>
                  </a:lnTo>
                  <a:cubicBezTo>
                    <a:pt x="7055231" y="0"/>
                    <a:pt x="7089394" y="34163"/>
                    <a:pt x="7089394" y="76200"/>
                  </a:cubicBezTo>
                  <a:cubicBezTo>
                    <a:pt x="7089394" y="118237"/>
                    <a:pt x="7055231" y="152400"/>
                    <a:pt x="7013194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185960" y="2140744"/>
            <a:ext cx="791166" cy="791166"/>
            <a:chOff x="0" y="0"/>
            <a:chExt cx="1054887" cy="10548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4862" cy="1054862"/>
            </a:xfrm>
            <a:custGeom>
              <a:avLst/>
              <a:gdLst/>
              <a:ahLst/>
              <a:cxnLst/>
              <a:rect r="r" b="b" t="t" l="l"/>
              <a:pathLst>
                <a:path h="1054862" w="1054862">
                  <a:moveTo>
                    <a:pt x="0" y="527431"/>
                  </a:moveTo>
                  <a:cubicBezTo>
                    <a:pt x="0" y="236093"/>
                    <a:pt x="236093" y="0"/>
                    <a:pt x="527431" y="0"/>
                  </a:cubicBezTo>
                  <a:cubicBezTo>
                    <a:pt x="818769" y="0"/>
                    <a:pt x="1054862" y="236093"/>
                    <a:pt x="1054862" y="527431"/>
                  </a:cubicBezTo>
                  <a:cubicBezTo>
                    <a:pt x="1054862" y="818769"/>
                    <a:pt x="818769" y="1054862"/>
                    <a:pt x="527431" y="1054862"/>
                  </a:cubicBezTo>
                  <a:cubicBezTo>
                    <a:pt x="236093" y="1054862"/>
                    <a:pt x="0" y="818769"/>
                    <a:pt x="0" y="527431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423342" y="2243290"/>
            <a:ext cx="316411" cy="49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43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5333" y="3186113"/>
            <a:ext cx="4732439" cy="83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Multimodal Context Understanding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5333" y="4090540"/>
            <a:ext cx="4732439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Simultaneously processes voice affect and text meaning to capture the full emotional picture behind user expressions.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85334" y="2536327"/>
            <a:ext cx="5317179" cy="3551482"/>
            <a:chOff x="0" y="0"/>
            <a:chExt cx="7089572" cy="47353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89522" cy="4735322"/>
            </a:xfrm>
            <a:custGeom>
              <a:avLst/>
              <a:gdLst/>
              <a:ahLst/>
              <a:cxnLst/>
              <a:rect r="r" b="b" t="t" l="l"/>
              <a:pathLst>
                <a:path h="4735322" w="708952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06641" y="0"/>
                  </a:lnTo>
                  <a:cubicBezTo>
                    <a:pt x="7007606" y="0"/>
                    <a:pt x="7089522" y="81915"/>
                    <a:pt x="7089522" y="182880"/>
                  </a:cubicBezTo>
                  <a:lnTo>
                    <a:pt x="7089522" y="4552442"/>
                  </a:lnTo>
                  <a:cubicBezTo>
                    <a:pt x="7089522" y="4653407"/>
                    <a:pt x="7007606" y="4735322"/>
                    <a:pt x="6906641" y="4735322"/>
                  </a:cubicBezTo>
                  <a:lnTo>
                    <a:pt x="182880" y="4735322"/>
                  </a:lnTo>
                  <a:cubicBezTo>
                    <a:pt x="81915" y="4735322"/>
                    <a:pt x="0" y="4653407"/>
                    <a:pt x="0" y="45524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85334" y="2507752"/>
            <a:ext cx="5317179" cy="114300"/>
            <a:chOff x="0" y="0"/>
            <a:chExt cx="7089572" cy="152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89521" cy="152400"/>
            </a:xfrm>
            <a:custGeom>
              <a:avLst/>
              <a:gdLst/>
              <a:ahLst/>
              <a:cxnLst/>
              <a:rect r="r" b="b" t="t" l="l"/>
              <a:pathLst>
                <a:path h="152400" w="7089521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7013321" y="0"/>
                  </a:lnTo>
                  <a:cubicBezTo>
                    <a:pt x="7055358" y="0"/>
                    <a:pt x="7089521" y="34163"/>
                    <a:pt x="7089521" y="76200"/>
                  </a:cubicBezTo>
                  <a:cubicBezTo>
                    <a:pt x="7089521" y="118237"/>
                    <a:pt x="7055358" y="152400"/>
                    <a:pt x="7013321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748265" y="2140744"/>
            <a:ext cx="791166" cy="791166"/>
            <a:chOff x="0" y="0"/>
            <a:chExt cx="1054887" cy="10548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4862" cy="1054862"/>
            </a:xfrm>
            <a:custGeom>
              <a:avLst/>
              <a:gdLst/>
              <a:ahLst/>
              <a:cxnLst/>
              <a:rect r="r" b="b" t="t" l="l"/>
              <a:pathLst>
                <a:path h="1054862" w="1054862">
                  <a:moveTo>
                    <a:pt x="0" y="527431"/>
                  </a:moveTo>
                  <a:cubicBezTo>
                    <a:pt x="0" y="236093"/>
                    <a:pt x="236093" y="0"/>
                    <a:pt x="527431" y="0"/>
                  </a:cubicBezTo>
                  <a:cubicBezTo>
                    <a:pt x="818769" y="0"/>
                    <a:pt x="1054862" y="236093"/>
                    <a:pt x="1054862" y="527431"/>
                  </a:cubicBezTo>
                  <a:cubicBezTo>
                    <a:pt x="1054862" y="818769"/>
                    <a:pt x="818769" y="1054862"/>
                    <a:pt x="527431" y="1054862"/>
                  </a:cubicBezTo>
                  <a:cubicBezTo>
                    <a:pt x="236093" y="1054862"/>
                    <a:pt x="0" y="818769"/>
                    <a:pt x="0" y="527431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985647" y="2243290"/>
            <a:ext cx="316411" cy="49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43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77628" y="3186113"/>
            <a:ext cx="3355924" cy="42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Six Intent Categories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77628" y="3678584"/>
            <a:ext cx="4732582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Detects venting, seeking advice, resource requests, gratitude, casual chat, and crisis situations to adapt responses appropriately.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47782" y="2536327"/>
            <a:ext cx="5317179" cy="3551482"/>
            <a:chOff x="0" y="0"/>
            <a:chExt cx="7089572" cy="47353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89522" cy="4735322"/>
            </a:xfrm>
            <a:custGeom>
              <a:avLst/>
              <a:gdLst/>
              <a:ahLst/>
              <a:cxnLst/>
              <a:rect r="r" b="b" t="t" l="l"/>
              <a:pathLst>
                <a:path h="4735322" w="708952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06641" y="0"/>
                  </a:lnTo>
                  <a:cubicBezTo>
                    <a:pt x="7007606" y="0"/>
                    <a:pt x="7089522" y="81915"/>
                    <a:pt x="7089522" y="182880"/>
                  </a:cubicBezTo>
                  <a:lnTo>
                    <a:pt x="7089522" y="4552442"/>
                  </a:lnTo>
                  <a:cubicBezTo>
                    <a:pt x="7089522" y="4653407"/>
                    <a:pt x="7007606" y="4735322"/>
                    <a:pt x="6906641" y="4735322"/>
                  </a:cubicBezTo>
                  <a:lnTo>
                    <a:pt x="182880" y="4735322"/>
                  </a:lnTo>
                  <a:cubicBezTo>
                    <a:pt x="81915" y="4735322"/>
                    <a:pt x="0" y="4653407"/>
                    <a:pt x="0" y="45524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047782" y="2507752"/>
            <a:ext cx="5317179" cy="114300"/>
            <a:chOff x="0" y="0"/>
            <a:chExt cx="7089572" cy="152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89521" cy="152400"/>
            </a:xfrm>
            <a:custGeom>
              <a:avLst/>
              <a:gdLst/>
              <a:ahLst/>
              <a:cxnLst/>
              <a:rect r="r" b="b" t="t" l="l"/>
              <a:pathLst>
                <a:path h="152400" w="7089521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7013321" y="0"/>
                  </a:lnTo>
                  <a:cubicBezTo>
                    <a:pt x="7055358" y="0"/>
                    <a:pt x="7089521" y="34163"/>
                    <a:pt x="7089521" y="76200"/>
                  </a:cubicBezTo>
                  <a:cubicBezTo>
                    <a:pt x="7089521" y="118237"/>
                    <a:pt x="7055358" y="152400"/>
                    <a:pt x="7013321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310722" y="2140744"/>
            <a:ext cx="791166" cy="791166"/>
            <a:chOff x="0" y="0"/>
            <a:chExt cx="1054887" cy="105488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4862" cy="1054862"/>
            </a:xfrm>
            <a:custGeom>
              <a:avLst/>
              <a:gdLst/>
              <a:ahLst/>
              <a:cxnLst/>
              <a:rect r="r" b="b" t="t" l="l"/>
              <a:pathLst>
                <a:path h="1054862" w="1054862">
                  <a:moveTo>
                    <a:pt x="0" y="527431"/>
                  </a:moveTo>
                  <a:cubicBezTo>
                    <a:pt x="0" y="236093"/>
                    <a:pt x="236093" y="0"/>
                    <a:pt x="527431" y="0"/>
                  </a:cubicBezTo>
                  <a:cubicBezTo>
                    <a:pt x="818769" y="0"/>
                    <a:pt x="1054862" y="236093"/>
                    <a:pt x="1054862" y="527431"/>
                  </a:cubicBezTo>
                  <a:cubicBezTo>
                    <a:pt x="1054862" y="818769"/>
                    <a:pt x="818769" y="1054862"/>
                    <a:pt x="527431" y="1054862"/>
                  </a:cubicBezTo>
                  <a:cubicBezTo>
                    <a:pt x="236093" y="1054862"/>
                    <a:pt x="0" y="818769"/>
                    <a:pt x="0" y="527431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548094" y="2243290"/>
            <a:ext cx="316411" cy="49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43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40085" y="3186113"/>
            <a:ext cx="3296841" cy="42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Crisis Safety Path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40085" y="3678584"/>
            <a:ext cx="4732582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Fixed deterministic response for high-risk language with immediate helpline connections before any generative AI processing.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3030" y="6728670"/>
            <a:ext cx="8098336" cy="2732332"/>
            <a:chOff x="0" y="0"/>
            <a:chExt cx="10797781" cy="36431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97794" cy="3643122"/>
            </a:xfrm>
            <a:custGeom>
              <a:avLst/>
              <a:gdLst/>
              <a:ahLst/>
              <a:cxnLst/>
              <a:rect r="r" b="b" t="t" l="l"/>
              <a:pathLst>
                <a:path h="3643122" w="1079779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14914" y="0"/>
                  </a:lnTo>
                  <a:cubicBezTo>
                    <a:pt x="10715879" y="0"/>
                    <a:pt x="10797794" y="81915"/>
                    <a:pt x="10797794" y="182880"/>
                  </a:cubicBezTo>
                  <a:lnTo>
                    <a:pt x="10797794" y="3460242"/>
                  </a:lnTo>
                  <a:cubicBezTo>
                    <a:pt x="10797794" y="3561207"/>
                    <a:pt x="10715879" y="3643122"/>
                    <a:pt x="10614914" y="3643122"/>
                  </a:cubicBezTo>
                  <a:lnTo>
                    <a:pt x="182880" y="3643122"/>
                  </a:lnTo>
                  <a:cubicBezTo>
                    <a:pt x="81915" y="3643122"/>
                    <a:pt x="0" y="3561207"/>
                    <a:pt x="0" y="34602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23030" y="6700095"/>
            <a:ext cx="8098336" cy="114300"/>
            <a:chOff x="0" y="0"/>
            <a:chExt cx="10797781" cy="152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97794" cy="152400"/>
            </a:xfrm>
            <a:custGeom>
              <a:avLst/>
              <a:gdLst/>
              <a:ahLst/>
              <a:cxnLst/>
              <a:rect r="r" b="b" t="t" l="l"/>
              <a:pathLst>
                <a:path h="152400" w="1079779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0721594" y="0"/>
                  </a:lnTo>
                  <a:cubicBezTo>
                    <a:pt x="10763631" y="0"/>
                    <a:pt x="10797794" y="34163"/>
                    <a:pt x="10797794" y="76200"/>
                  </a:cubicBezTo>
                  <a:cubicBezTo>
                    <a:pt x="10797794" y="118237"/>
                    <a:pt x="10763631" y="152400"/>
                    <a:pt x="10721594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576610" y="6333087"/>
            <a:ext cx="791166" cy="791166"/>
            <a:chOff x="0" y="0"/>
            <a:chExt cx="1054887" cy="105488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4862" cy="1054862"/>
            </a:xfrm>
            <a:custGeom>
              <a:avLst/>
              <a:gdLst/>
              <a:ahLst/>
              <a:cxnLst/>
              <a:rect r="r" b="b" t="t" l="l"/>
              <a:pathLst>
                <a:path h="1054862" w="1054862">
                  <a:moveTo>
                    <a:pt x="0" y="527431"/>
                  </a:moveTo>
                  <a:cubicBezTo>
                    <a:pt x="0" y="236093"/>
                    <a:pt x="236093" y="0"/>
                    <a:pt x="527431" y="0"/>
                  </a:cubicBezTo>
                  <a:cubicBezTo>
                    <a:pt x="818769" y="0"/>
                    <a:pt x="1054862" y="236093"/>
                    <a:pt x="1054862" y="527431"/>
                  </a:cubicBezTo>
                  <a:cubicBezTo>
                    <a:pt x="1054862" y="818769"/>
                    <a:pt x="818769" y="1054862"/>
                    <a:pt x="527431" y="1054862"/>
                  </a:cubicBezTo>
                  <a:cubicBezTo>
                    <a:pt x="236093" y="1054862"/>
                    <a:pt x="0" y="818769"/>
                    <a:pt x="0" y="527431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4813992" y="6435623"/>
            <a:ext cx="316411" cy="49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43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15333" y="7378456"/>
            <a:ext cx="3296841" cy="42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Resource Engine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5333" y="7870927"/>
            <a:ext cx="7513739" cy="129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Provides breathing exercises, grounding techniques, reading recommendations, affirmations, music mood matching, and support line access.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266634" y="6728670"/>
            <a:ext cx="8098336" cy="2732332"/>
            <a:chOff x="0" y="0"/>
            <a:chExt cx="10797781" cy="36431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97794" cy="3643122"/>
            </a:xfrm>
            <a:custGeom>
              <a:avLst/>
              <a:gdLst/>
              <a:ahLst/>
              <a:cxnLst/>
              <a:rect r="r" b="b" t="t" l="l"/>
              <a:pathLst>
                <a:path h="3643122" w="1079779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14914" y="0"/>
                  </a:lnTo>
                  <a:cubicBezTo>
                    <a:pt x="10715879" y="0"/>
                    <a:pt x="10797794" y="81915"/>
                    <a:pt x="10797794" y="182880"/>
                  </a:cubicBezTo>
                  <a:lnTo>
                    <a:pt x="10797794" y="3460242"/>
                  </a:lnTo>
                  <a:cubicBezTo>
                    <a:pt x="10797794" y="3561207"/>
                    <a:pt x="10715879" y="3643122"/>
                    <a:pt x="10614914" y="3643122"/>
                  </a:cubicBezTo>
                  <a:lnTo>
                    <a:pt x="182880" y="3643122"/>
                  </a:lnTo>
                  <a:cubicBezTo>
                    <a:pt x="81915" y="3643122"/>
                    <a:pt x="0" y="3561207"/>
                    <a:pt x="0" y="34602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266634" y="6700095"/>
            <a:ext cx="8098336" cy="114300"/>
            <a:chOff x="0" y="0"/>
            <a:chExt cx="10797781" cy="152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97794" cy="152400"/>
            </a:xfrm>
            <a:custGeom>
              <a:avLst/>
              <a:gdLst/>
              <a:ahLst/>
              <a:cxnLst/>
              <a:rect r="r" b="b" t="t" l="l"/>
              <a:pathLst>
                <a:path h="152400" w="1079779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0721594" y="0"/>
                  </a:lnTo>
                  <a:cubicBezTo>
                    <a:pt x="10763631" y="0"/>
                    <a:pt x="10797794" y="34163"/>
                    <a:pt x="10797794" y="76200"/>
                  </a:cubicBezTo>
                  <a:cubicBezTo>
                    <a:pt x="10797794" y="118237"/>
                    <a:pt x="10763631" y="152400"/>
                    <a:pt x="10721594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920215" y="6333087"/>
            <a:ext cx="791166" cy="791166"/>
            <a:chOff x="0" y="0"/>
            <a:chExt cx="1054887" cy="105488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54862" cy="1054862"/>
            </a:xfrm>
            <a:custGeom>
              <a:avLst/>
              <a:gdLst/>
              <a:ahLst/>
              <a:cxnLst/>
              <a:rect r="r" b="b" t="t" l="l"/>
              <a:pathLst>
                <a:path h="1054862" w="1054862">
                  <a:moveTo>
                    <a:pt x="0" y="527431"/>
                  </a:moveTo>
                  <a:cubicBezTo>
                    <a:pt x="0" y="236093"/>
                    <a:pt x="236093" y="0"/>
                    <a:pt x="527431" y="0"/>
                  </a:cubicBezTo>
                  <a:cubicBezTo>
                    <a:pt x="818769" y="0"/>
                    <a:pt x="1054862" y="236093"/>
                    <a:pt x="1054862" y="527431"/>
                  </a:cubicBezTo>
                  <a:cubicBezTo>
                    <a:pt x="1054862" y="818769"/>
                    <a:pt x="818769" y="1054862"/>
                    <a:pt x="527431" y="1054862"/>
                  </a:cubicBezTo>
                  <a:cubicBezTo>
                    <a:pt x="236093" y="1054862"/>
                    <a:pt x="0" y="818769"/>
                    <a:pt x="0" y="527431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3157597" y="6435623"/>
            <a:ext cx="316411" cy="49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43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58928" y="7378456"/>
            <a:ext cx="3296841" cy="42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Session Analytics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58928" y="7870927"/>
            <a:ext cx="7513739" cy="89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Tracks emotion drift over time, identifies dominant intents, and detects contradictions between voice and text signals.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4930" y="1111148"/>
            <a:ext cx="7013077" cy="818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Technical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4930" y="2474566"/>
            <a:ext cx="3160662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Layered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4930" y="3038027"/>
            <a:ext cx="5380434" cy="122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EmoSense implements a robust multi-layer architecture ensuring safety, accuracy, and responsiveness: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4930" y="4388796"/>
            <a:ext cx="5380434" cy="467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00"/>
              </a:lnSpc>
              <a:buAutoNum type="arabicPeriod" startAt="1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Frontend: Streamlit production-ready UI</a:t>
            </a:r>
          </a:p>
          <a:p>
            <a:pPr algn="l" marL="292199" indent="-146100" lvl="1">
              <a:lnSpc>
                <a:spcPts val="3000"/>
              </a:lnSpc>
              <a:buAutoNum type="arabicPeriod" startAt="1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SER: Fine-tuned Wav2Vec2 on RAVDESS dataset</a:t>
            </a:r>
          </a:p>
          <a:p>
            <a:pPr algn="l" marL="292199" indent="-146100" lvl="1">
              <a:lnSpc>
                <a:spcPts val="3000"/>
              </a:lnSpc>
              <a:buAutoNum type="arabicPeriod" startAt="1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NLP: RoBERTa sentiment + rule-based intent</a:t>
            </a:r>
          </a:p>
          <a:p>
            <a:pPr algn="l" marL="292199" indent="-146100" lvl="1">
              <a:lnSpc>
                <a:spcPts val="3000"/>
              </a:lnSpc>
              <a:buAutoNum type="arabicPeriod" startAt="1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Fusion: Contradiction-aware signal combiner</a:t>
            </a:r>
          </a:p>
          <a:p>
            <a:pPr algn="l" marL="292199" indent="-146100" lvl="1">
              <a:lnSpc>
                <a:spcPts val="3000"/>
              </a:lnSpc>
              <a:buAutoNum type="arabicPeriod" startAt="1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Conversation: Qwen2.5 via Hugging Face API</a:t>
            </a:r>
          </a:p>
          <a:p>
            <a:pPr algn="l" marL="292199" indent="-146100" lvl="1">
              <a:lnSpc>
                <a:spcPts val="3000"/>
              </a:lnSpc>
              <a:buAutoNum type="arabicPeriod" startAt="1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Output: Recommendations + report export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891633" y="2771623"/>
            <a:ext cx="10520810" cy="5872010"/>
            <a:chOff x="0" y="0"/>
            <a:chExt cx="14027747" cy="7829347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4027786" cy="7829296"/>
            </a:xfrm>
            <a:custGeom>
              <a:avLst/>
              <a:gdLst/>
              <a:ahLst/>
              <a:cxnLst/>
              <a:rect r="r" b="b" t="t" l="l"/>
              <a:pathLst>
                <a:path h="7829296" w="14027786">
                  <a:moveTo>
                    <a:pt x="0" y="0"/>
                  </a:moveTo>
                  <a:lnTo>
                    <a:pt x="14027786" y="0"/>
                  </a:lnTo>
                  <a:lnTo>
                    <a:pt x="14027786" y="7829296"/>
                  </a:lnTo>
                  <a:lnTo>
                    <a:pt x="0" y="7829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9" t="0" r="-59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8322" y="957415"/>
            <a:ext cx="10261844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4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Makes EmoSense Different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98322" y="2252815"/>
            <a:ext cx="1283341" cy="1836096"/>
            <a:chOff x="0" y="0"/>
            <a:chExt cx="1711122" cy="244812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711071" cy="2448179"/>
            </a:xfrm>
            <a:custGeom>
              <a:avLst/>
              <a:gdLst/>
              <a:ahLst/>
              <a:cxnLst/>
              <a:rect r="r" b="b" t="t" l="l"/>
              <a:pathLst>
                <a:path h="2448179" w="1711071">
                  <a:moveTo>
                    <a:pt x="0" y="0"/>
                  </a:moveTo>
                  <a:lnTo>
                    <a:pt x="1711071" y="0"/>
                  </a:lnTo>
                  <a:lnTo>
                    <a:pt x="1711071" y="2448179"/>
                  </a:lnTo>
                  <a:lnTo>
                    <a:pt x="0" y="2448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" t="0" r="-40" b="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413997" y="2499865"/>
            <a:ext cx="3811791" cy="41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It Listens to Voice Affect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13997" y="2983116"/>
            <a:ext cx="14975681" cy="84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Not just another chatbot reading text—it detects emotional tone through speech analysis, capturing what words alone cannot express.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98322" y="4088902"/>
            <a:ext cx="1283341" cy="1836096"/>
            <a:chOff x="0" y="0"/>
            <a:chExt cx="1711122" cy="2448128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711071" cy="2448179"/>
            </a:xfrm>
            <a:custGeom>
              <a:avLst/>
              <a:gdLst/>
              <a:ahLst/>
              <a:cxnLst/>
              <a:rect r="r" b="b" t="t" l="l"/>
              <a:pathLst>
                <a:path h="2448179" w="1711071">
                  <a:moveTo>
                    <a:pt x="0" y="0"/>
                  </a:moveTo>
                  <a:lnTo>
                    <a:pt x="1711071" y="0"/>
                  </a:lnTo>
                  <a:lnTo>
                    <a:pt x="1711071" y="2448179"/>
                  </a:lnTo>
                  <a:lnTo>
                    <a:pt x="0" y="2448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" t="0" r="-40" b="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413997" y="4335961"/>
            <a:ext cx="5876773" cy="41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It Interprets Intent and Contradictions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13997" y="4819202"/>
            <a:ext cx="14975681" cy="84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Going beyond simple sentiment, EmoSense understands user purpose and flags when voice emotion contradicts text content for deeper insight.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8322" y="5924998"/>
            <a:ext cx="1283341" cy="1836096"/>
            <a:chOff x="0" y="0"/>
            <a:chExt cx="1711122" cy="24481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711071" cy="2448179"/>
            </a:xfrm>
            <a:custGeom>
              <a:avLst/>
              <a:gdLst/>
              <a:ahLst/>
              <a:cxnLst/>
              <a:rect r="r" b="b" t="t" l="l"/>
              <a:pathLst>
                <a:path h="2448179" w="1711071">
                  <a:moveTo>
                    <a:pt x="0" y="0"/>
                  </a:moveTo>
                  <a:lnTo>
                    <a:pt x="1711071" y="0"/>
                  </a:lnTo>
                  <a:lnTo>
                    <a:pt x="1711071" y="2448179"/>
                  </a:lnTo>
                  <a:lnTo>
                    <a:pt x="0" y="2448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" t="0" r="-40" b="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413997" y="6172048"/>
            <a:ext cx="4040981" cy="41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It Provides Practical Tools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13997" y="6655298"/>
            <a:ext cx="14975681" cy="84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Category-based support resources deliver actionable self-regulation strategies rather than generic conversational responses.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8322" y="7761084"/>
            <a:ext cx="1283341" cy="1539926"/>
            <a:chOff x="0" y="0"/>
            <a:chExt cx="1711122" cy="205323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711071" cy="2053209"/>
            </a:xfrm>
            <a:custGeom>
              <a:avLst/>
              <a:gdLst/>
              <a:ahLst/>
              <a:cxnLst/>
              <a:rect r="r" b="b" t="t" l="l"/>
              <a:pathLst>
                <a:path h="2053209" w="1711071">
                  <a:moveTo>
                    <a:pt x="0" y="0"/>
                  </a:moveTo>
                  <a:lnTo>
                    <a:pt x="1711071" y="0"/>
                  </a:lnTo>
                  <a:lnTo>
                    <a:pt x="1711071" y="2053209"/>
                  </a:lnTo>
                  <a:lnTo>
                    <a:pt x="0" y="2053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" r="-2" b="-3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413997" y="8008144"/>
            <a:ext cx="3659981" cy="41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It Includes Safety Logic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13997" y="8491385"/>
            <a:ext cx="14975681" cy="4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Deterministic crisis detection runs before any LLM call, ensuring immediate helpline-first guidance for high-risk situations.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9905" y="855164"/>
            <a:ext cx="9945738" cy="84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Safety and Responsible Design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5143" y="2187473"/>
            <a:ext cx="600818" cy="600818"/>
            <a:chOff x="0" y="0"/>
            <a:chExt cx="801091" cy="8010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788416" cy="788416"/>
            </a:xfrm>
            <a:custGeom>
              <a:avLst/>
              <a:gdLst/>
              <a:ahLst/>
              <a:cxnLst/>
              <a:rect r="r" b="b" t="t" l="l"/>
              <a:pathLst>
                <a:path h="788416" w="78841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41223" y="0"/>
                  </a:lnTo>
                  <a:cubicBezTo>
                    <a:pt x="722503" y="0"/>
                    <a:pt x="788416" y="65913"/>
                    <a:pt x="788416" y="147193"/>
                  </a:cubicBezTo>
                  <a:lnTo>
                    <a:pt x="788416" y="641223"/>
                  </a:lnTo>
                  <a:cubicBezTo>
                    <a:pt x="788416" y="722503"/>
                    <a:pt x="722503" y="788416"/>
                    <a:pt x="641223" y="788416"/>
                  </a:cubicBezTo>
                  <a:lnTo>
                    <a:pt x="147193" y="788416"/>
                  </a:lnTo>
                  <a:cubicBezTo>
                    <a:pt x="65913" y="788416"/>
                    <a:pt x="0" y="722503"/>
                    <a:pt x="0" y="641223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1116" cy="801116"/>
            </a:xfrm>
            <a:custGeom>
              <a:avLst/>
              <a:gdLst/>
              <a:ahLst/>
              <a:cxnLst/>
              <a:rect r="r" b="b" t="t" l="l"/>
              <a:pathLst>
                <a:path h="801116" w="801116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47573" y="0"/>
                  </a:lnTo>
                  <a:lnTo>
                    <a:pt x="647573" y="6350"/>
                  </a:lnTo>
                  <a:lnTo>
                    <a:pt x="647573" y="0"/>
                  </a:lnTo>
                  <a:cubicBezTo>
                    <a:pt x="732409" y="0"/>
                    <a:pt x="801116" y="68707"/>
                    <a:pt x="801116" y="153543"/>
                  </a:cubicBezTo>
                  <a:lnTo>
                    <a:pt x="794766" y="153543"/>
                  </a:lnTo>
                  <a:lnTo>
                    <a:pt x="801116" y="153543"/>
                  </a:lnTo>
                  <a:lnTo>
                    <a:pt x="801116" y="647573"/>
                  </a:lnTo>
                  <a:lnTo>
                    <a:pt x="794766" y="647573"/>
                  </a:lnTo>
                  <a:lnTo>
                    <a:pt x="801116" y="647573"/>
                  </a:lnTo>
                  <a:cubicBezTo>
                    <a:pt x="801116" y="732409"/>
                    <a:pt x="732409" y="801116"/>
                    <a:pt x="647573" y="801116"/>
                  </a:cubicBezTo>
                  <a:lnTo>
                    <a:pt x="647573" y="794766"/>
                  </a:lnTo>
                  <a:lnTo>
                    <a:pt x="647573" y="801116"/>
                  </a:lnTo>
                  <a:lnTo>
                    <a:pt x="153543" y="801116"/>
                  </a:lnTo>
                  <a:lnTo>
                    <a:pt x="153543" y="794766"/>
                  </a:lnTo>
                  <a:lnTo>
                    <a:pt x="153543" y="801116"/>
                  </a:lnTo>
                  <a:cubicBezTo>
                    <a:pt x="68707" y="801116"/>
                    <a:pt x="0" y="732409"/>
                    <a:pt x="0" y="647573"/>
                  </a:cubicBezTo>
                  <a:lnTo>
                    <a:pt x="0" y="153543"/>
                  </a:lnTo>
                  <a:lnTo>
                    <a:pt x="6350" y="153543"/>
                  </a:lnTo>
                  <a:lnTo>
                    <a:pt x="0" y="153543"/>
                  </a:lnTo>
                  <a:moveTo>
                    <a:pt x="12700" y="153543"/>
                  </a:moveTo>
                  <a:lnTo>
                    <a:pt x="12700" y="647573"/>
                  </a:lnTo>
                  <a:lnTo>
                    <a:pt x="6350" y="647573"/>
                  </a:lnTo>
                  <a:lnTo>
                    <a:pt x="12700" y="647573"/>
                  </a:lnTo>
                  <a:cubicBezTo>
                    <a:pt x="12700" y="725297"/>
                    <a:pt x="75819" y="788416"/>
                    <a:pt x="153543" y="788416"/>
                  </a:cubicBezTo>
                  <a:lnTo>
                    <a:pt x="647573" y="788416"/>
                  </a:lnTo>
                  <a:cubicBezTo>
                    <a:pt x="725297" y="788416"/>
                    <a:pt x="788416" y="725297"/>
                    <a:pt x="788416" y="647573"/>
                  </a:cubicBezTo>
                  <a:lnTo>
                    <a:pt x="788416" y="153543"/>
                  </a:lnTo>
                  <a:cubicBezTo>
                    <a:pt x="788416" y="75819"/>
                    <a:pt x="725297" y="12700"/>
                    <a:pt x="647573" y="12700"/>
                  </a:cubicBezTo>
                  <a:lnTo>
                    <a:pt x="153543" y="12700"/>
                  </a:lnTo>
                  <a:lnTo>
                    <a:pt x="153543" y="6350"/>
                  </a:lnTo>
                  <a:lnTo>
                    <a:pt x="153543" y="12700"/>
                  </a:lnTo>
                  <a:cubicBezTo>
                    <a:pt x="75819" y="12700"/>
                    <a:pt x="12700" y="75819"/>
                    <a:pt x="12700" y="15354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54829" y="2273056"/>
            <a:ext cx="4053630" cy="420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Crisis Keyword Detection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4829" y="2763288"/>
            <a:ext cx="15613266" cy="48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Runs before any LLM call to catch high-risk language immediately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5143" y="3727104"/>
            <a:ext cx="600818" cy="600818"/>
            <a:chOff x="0" y="0"/>
            <a:chExt cx="801091" cy="8010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788416" cy="788416"/>
            </a:xfrm>
            <a:custGeom>
              <a:avLst/>
              <a:gdLst/>
              <a:ahLst/>
              <a:cxnLst/>
              <a:rect r="r" b="b" t="t" l="l"/>
              <a:pathLst>
                <a:path h="788416" w="78841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41223" y="0"/>
                  </a:lnTo>
                  <a:cubicBezTo>
                    <a:pt x="722503" y="0"/>
                    <a:pt x="788416" y="65913"/>
                    <a:pt x="788416" y="147193"/>
                  </a:cubicBezTo>
                  <a:lnTo>
                    <a:pt x="788416" y="641223"/>
                  </a:lnTo>
                  <a:cubicBezTo>
                    <a:pt x="788416" y="722503"/>
                    <a:pt x="722503" y="788416"/>
                    <a:pt x="641223" y="788416"/>
                  </a:cubicBezTo>
                  <a:lnTo>
                    <a:pt x="147193" y="788416"/>
                  </a:lnTo>
                  <a:cubicBezTo>
                    <a:pt x="65913" y="788416"/>
                    <a:pt x="0" y="722503"/>
                    <a:pt x="0" y="641223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1116" cy="801116"/>
            </a:xfrm>
            <a:custGeom>
              <a:avLst/>
              <a:gdLst/>
              <a:ahLst/>
              <a:cxnLst/>
              <a:rect r="r" b="b" t="t" l="l"/>
              <a:pathLst>
                <a:path h="801116" w="801116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47573" y="0"/>
                  </a:lnTo>
                  <a:lnTo>
                    <a:pt x="647573" y="6350"/>
                  </a:lnTo>
                  <a:lnTo>
                    <a:pt x="647573" y="0"/>
                  </a:lnTo>
                  <a:cubicBezTo>
                    <a:pt x="732409" y="0"/>
                    <a:pt x="801116" y="68707"/>
                    <a:pt x="801116" y="153543"/>
                  </a:cubicBezTo>
                  <a:lnTo>
                    <a:pt x="794766" y="153543"/>
                  </a:lnTo>
                  <a:lnTo>
                    <a:pt x="801116" y="153543"/>
                  </a:lnTo>
                  <a:lnTo>
                    <a:pt x="801116" y="647573"/>
                  </a:lnTo>
                  <a:lnTo>
                    <a:pt x="794766" y="647573"/>
                  </a:lnTo>
                  <a:lnTo>
                    <a:pt x="801116" y="647573"/>
                  </a:lnTo>
                  <a:cubicBezTo>
                    <a:pt x="801116" y="732409"/>
                    <a:pt x="732409" y="801116"/>
                    <a:pt x="647573" y="801116"/>
                  </a:cubicBezTo>
                  <a:lnTo>
                    <a:pt x="647573" y="794766"/>
                  </a:lnTo>
                  <a:lnTo>
                    <a:pt x="647573" y="801116"/>
                  </a:lnTo>
                  <a:lnTo>
                    <a:pt x="153543" y="801116"/>
                  </a:lnTo>
                  <a:lnTo>
                    <a:pt x="153543" y="794766"/>
                  </a:lnTo>
                  <a:lnTo>
                    <a:pt x="153543" y="801116"/>
                  </a:lnTo>
                  <a:cubicBezTo>
                    <a:pt x="68707" y="801116"/>
                    <a:pt x="0" y="732409"/>
                    <a:pt x="0" y="647573"/>
                  </a:cubicBezTo>
                  <a:lnTo>
                    <a:pt x="0" y="153543"/>
                  </a:lnTo>
                  <a:lnTo>
                    <a:pt x="6350" y="153543"/>
                  </a:lnTo>
                  <a:lnTo>
                    <a:pt x="0" y="153543"/>
                  </a:lnTo>
                  <a:moveTo>
                    <a:pt x="12700" y="153543"/>
                  </a:moveTo>
                  <a:lnTo>
                    <a:pt x="12700" y="647573"/>
                  </a:lnTo>
                  <a:lnTo>
                    <a:pt x="6350" y="647573"/>
                  </a:lnTo>
                  <a:lnTo>
                    <a:pt x="12700" y="647573"/>
                  </a:lnTo>
                  <a:cubicBezTo>
                    <a:pt x="12700" y="725297"/>
                    <a:pt x="75819" y="788416"/>
                    <a:pt x="153543" y="788416"/>
                  </a:cubicBezTo>
                  <a:lnTo>
                    <a:pt x="647573" y="788416"/>
                  </a:lnTo>
                  <a:cubicBezTo>
                    <a:pt x="725297" y="788416"/>
                    <a:pt x="788416" y="725297"/>
                    <a:pt x="788416" y="647573"/>
                  </a:cubicBezTo>
                  <a:lnTo>
                    <a:pt x="788416" y="153543"/>
                  </a:lnTo>
                  <a:cubicBezTo>
                    <a:pt x="788416" y="75819"/>
                    <a:pt x="725297" y="12700"/>
                    <a:pt x="647573" y="12700"/>
                  </a:cubicBezTo>
                  <a:lnTo>
                    <a:pt x="153543" y="12700"/>
                  </a:lnTo>
                  <a:lnTo>
                    <a:pt x="153543" y="6350"/>
                  </a:lnTo>
                  <a:lnTo>
                    <a:pt x="153543" y="12700"/>
                  </a:lnTo>
                  <a:cubicBezTo>
                    <a:pt x="75819" y="12700"/>
                    <a:pt x="12700" y="75819"/>
                    <a:pt x="12700" y="15354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54829" y="3812677"/>
            <a:ext cx="6121298" cy="420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Non-Generative Emergency Response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4829" y="4302919"/>
            <a:ext cx="15613266" cy="48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Immediate fixed response with helpline numbers, no AI generation during crisis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5143" y="5266734"/>
            <a:ext cx="600818" cy="600818"/>
            <a:chOff x="0" y="0"/>
            <a:chExt cx="801091" cy="8010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788416" cy="788416"/>
            </a:xfrm>
            <a:custGeom>
              <a:avLst/>
              <a:gdLst/>
              <a:ahLst/>
              <a:cxnLst/>
              <a:rect r="r" b="b" t="t" l="l"/>
              <a:pathLst>
                <a:path h="788416" w="78841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41223" y="0"/>
                  </a:lnTo>
                  <a:cubicBezTo>
                    <a:pt x="722503" y="0"/>
                    <a:pt x="788416" y="65913"/>
                    <a:pt x="788416" y="147193"/>
                  </a:cubicBezTo>
                  <a:lnTo>
                    <a:pt x="788416" y="641223"/>
                  </a:lnTo>
                  <a:cubicBezTo>
                    <a:pt x="788416" y="722503"/>
                    <a:pt x="722503" y="788416"/>
                    <a:pt x="641223" y="788416"/>
                  </a:cubicBezTo>
                  <a:lnTo>
                    <a:pt x="147193" y="788416"/>
                  </a:lnTo>
                  <a:cubicBezTo>
                    <a:pt x="65913" y="788416"/>
                    <a:pt x="0" y="722503"/>
                    <a:pt x="0" y="641223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1116" cy="801116"/>
            </a:xfrm>
            <a:custGeom>
              <a:avLst/>
              <a:gdLst/>
              <a:ahLst/>
              <a:cxnLst/>
              <a:rect r="r" b="b" t="t" l="l"/>
              <a:pathLst>
                <a:path h="801116" w="801116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47573" y="0"/>
                  </a:lnTo>
                  <a:lnTo>
                    <a:pt x="647573" y="6350"/>
                  </a:lnTo>
                  <a:lnTo>
                    <a:pt x="647573" y="0"/>
                  </a:lnTo>
                  <a:cubicBezTo>
                    <a:pt x="732409" y="0"/>
                    <a:pt x="801116" y="68707"/>
                    <a:pt x="801116" y="153543"/>
                  </a:cubicBezTo>
                  <a:lnTo>
                    <a:pt x="794766" y="153543"/>
                  </a:lnTo>
                  <a:lnTo>
                    <a:pt x="801116" y="153543"/>
                  </a:lnTo>
                  <a:lnTo>
                    <a:pt x="801116" y="647573"/>
                  </a:lnTo>
                  <a:lnTo>
                    <a:pt x="794766" y="647573"/>
                  </a:lnTo>
                  <a:lnTo>
                    <a:pt x="801116" y="647573"/>
                  </a:lnTo>
                  <a:cubicBezTo>
                    <a:pt x="801116" y="732409"/>
                    <a:pt x="732409" y="801116"/>
                    <a:pt x="647573" y="801116"/>
                  </a:cubicBezTo>
                  <a:lnTo>
                    <a:pt x="647573" y="794766"/>
                  </a:lnTo>
                  <a:lnTo>
                    <a:pt x="647573" y="801116"/>
                  </a:lnTo>
                  <a:lnTo>
                    <a:pt x="153543" y="801116"/>
                  </a:lnTo>
                  <a:lnTo>
                    <a:pt x="153543" y="794766"/>
                  </a:lnTo>
                  <a:lnTo>
                    <a:pt x="153543" y="801116"/>
                  </a:lnTo>
                  <a:cubicBezTo>
                    <a:pt x="68707" y="801116"/>
                    <a:pt x="0" y="732409"/>
                    <a:pt x="0" y="647573"/>
                  </a:cubicBezTo>
                  <a:lnTo>
                    <a:pt x="0" y="153543"/>
                  </a:lnTo>
                  <a:lnTo>
                    <a:pt x="6350" y="153543"/>
                  </a:lnTo>
                  <a:lnTo>
                    <a:pt x="0" y="153543"/>
                  </a:lnTo>
                  <a:moveTo>
                    <a:pt x="12700" y="153543"/>
                  </a:moveTo>
                  <a:lnTo>
                    <a:pt x="12700" y="647573"/>
                  </a:lnTo>
                  <a:lnTo>
                    <a:pt x="6350" y="647573"/>
                  </a:lnTo>
                  <a:lnTo>
                    <a:pt x="12700" y="647573"/>
                  </a:lnTo>
                  <a:cubicBezTo>
                    <a:pt x="12700" y="725297"/>
                    <a:pt x="75819" y="788416"/>
                    <a:pt x="153543" y="788416"/>
                  </a:cubicBezTo>
                  <a:lnTo>
                    <a:pt x="647573" y="788416"/>
                  </a:lnTo>
                  <a:cubicBezTo>
                    <a:pt x="725297" y="788416"/>
                    <a:pt x="788416" y="725297"/>
                    <a:pt x="788416" y="647573"/>
                  </a:cubicBezTo>
                  <a:lnTo>
                    <a:pt x="788416" y="153543"/>
                  </a:lnTo>
                  <a:cubicBezTo>
                    <a:pt x="788416" y="75819"/>
                    <a:pt x="725297" y="12700"/>
                    <a:pt x="647573" y="12700"/>
                  </a:cubicBezTo>
                  <a:lnTo>
                    <a:pt x="153543" y="12700"/>
                  </a:lnTo>
                  <a:lnTo>
                    <a:pt x="153543" y="6350"/>
                  </a:lnTo>
                  <a:lnTo>
                    <a:pt x="153543" y="12700"/>
                  </a:lnTo>
                  <a:cubicBezTo>
                    <a:pt x="75819" y="12700"/>
                    <a:pt x="12700" y="75819"/>
                    <a:pt x="12700" y="15354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54829" y="5352307"/>
            <a:ext cx="4043515" cy="420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Local Resource Matching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54829" y="5842549"/>
            <a:ext cx="15613266" cy="48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Geographic-aware helpline connections tailored to user location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5143" y="6806355"/>
            <a:ext cx="600818" cy="600818"/>
            <a:chOff x="0" y="0"/>
            <a:chExt cx="801091" cy="8010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788416" cy="788416"/>
            </a:xfrm>
            <a:custGeom>
              <a:avLst/>
              <a:gdLst/>
              <a:ahLst/>
              <a:cxnLst/>
              <a:rect r="r" b="b" t="t" l="l"/>
              <a:pathLst>
                <a:path h="788416" w="78841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41223" y="0"/>
                  </a:lnTo>
                  <a:cubicBezTo>
                    <a:pt x="722503" y="0"/>
                    <a:pt x="788416" y="65913"/>
                    <a:pt x="788416" y="147193"/>
                  </a:cubicBezTo>
                  <a:lnTo>
                    <a:pt x="788416" y="641223"/>
                  </a:lnTo>
                  <a:cubicBezTo>
                    <a:pt x="788416" y="722503"/>
                    <a:pt x="722503" y="788416"/>
                    <a:pt x="641223" y="788416"/>
                  </a:cubicBezTo>
                  <a:lnTo>
                    <a:pt x="147193" y="788416"/>
                  </a:lnTo>
                  <a:cubicBezTo>
                    <a:pt x="65913" y="788416"/>
                    <a:pt x="0" y="722503"/>
                    <a:pt x="0" y="641223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1116" cy="801116"/>
            </a:xfrm>
            <a:custGeom>
              <a:avLst/>
              <a:gdLst/>
              <a:ahLst/>
              <a:cxnLst/>
              <a:rect r="r" b="b" t="t" l="l"/>
              <a:pathLst>
                <a:path h="801116" w="801116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47573" y="0"/>
                  </a:lnTo>
                  <a:lnTo>
                    <a:pt x="647573" y="6350"/>
                  </a:lnTo>
                  <a:lnTo>
                    <a:pt x="647573" y="0"/>
                  </a:lnTo>
                  <a:cubicBezTo>
                    <a:pt x="732409" y="0"/>
                    <a:pt x="801116" y="68707"/>
                    <a:pt x="801116" y="153543"/>
                  </a:cubicBezTo>
                  <a:lnTo>
                    <a:pt x="794766" y="153543"/>
                  </a:lnTo>
                  <a:lnTo>
                    <a:pt x="801116" y="153543"/>
                  </a:lnTo>
                  <a:lnTo>
                    <a:pt x="801116" y="647573"/>
                  </a:lnTo>
                  <a:lnTo>
                    <a:pt x="794766" y="647573"/>
                  </a:lnTo>
                  <a:lnTo>
                    <a:pt x="801116" y="647573"/>
                  </a:lnTo>
                  <a:cubicBezTo>
                    <a:pt x="801116" y="732409"/>
                    <a:pt x="732409" y="801116"/>
                    <a:pt x="647573" y="801116"/>
                  </a:cubicBezTo>
                  <a:lnTo>
                    <a:pt x="647573" y="794766"/>
                  </a:lnTo>
                  <a:lnTo>
                    <a:pt x="647573" y="801116"/>
                  </a:lnTo>
                  <a:lnTo>
                    <a:pt x="153543" y="801116"/>
                  </a:lnTo>
                  <a:lnTo>
                    <a:pt x="153543" y="794766"/>
                  </a:lnTo>
                  <a:lnTo>
                    <a:pt x="153543" y="801116"/>
                  </a:lnTo>
                  <a:cubicBezTo>
                    <a:pt x="68707" y="801116"/>
                    <a:pt x="0" y="732409"/>
                    <a:pt x="0" y="647573"/>
                  </a:cubicBezTo>
                  <a:lnTo>
                    <a:pt x="0" y="153543"/>
                  </a:lnTo>
                  <a:lnTo>
                    <a:pt x="6350" y="153543"/>
                  </a:lnTo>
                  <a:lnTo>
                    <a:pt x="0" y="153543"/>
                  </a:lnTo>
                  <a:moveTo>
                    <a:pt x="12700" y="153543"/>
                  </a:moveTo>
                  <a:lnTo>
                    <a:pt x="12700" y="647573"/>
                  </a:lnTo>
                  <a:lnTo>
                    <a:pt x="6350" y="647573"/>
                  </a:lnTo>
                  <a:lnTo>
                    <a:pt x="12700" y="647573"/>
                  </a:lnTo>
                  <a:cubicBezTo>
                    <a:pt x="12700" y="725297"/>
                    <a:pt x="75819" y="788416"/>
                    <a:pt x="153543" y="788416"/>
                  </a:cubicBezTo>
                  <a:lnTo>
                    <a:pt x="647573" y="788416"/>
                  </a:lnTo>
                  <a:cubicBezTo>
                    <a:pt x="725297" y="788416"/>
                    <a:pt x="788416" y="725297"/>
                    <a:pt x="788416" y="647573"/>
                  </a:cubicBezTo>
                  <a:lnTo>
                    <a:pt x="788416" y="153543"/>
                  </a:lnTo>
                  <a:cubicBezTo>
                    <a:pt x="788416" y="75819"/>
                    <a:pt x="725297" y="12700"/>
                    <a:pt x="647573" y="12700"/>
                  </a:cubicBezTo>
                  <a:lnTo>
                    <a:pt x="153543" y="12700"/>
                  </a:lnTo>
                  <a:lnTo>
                    <a:pt x="153543" y="6350"/>
                  </a:lnTo>
                  <a:lnTo>
                    <a:pt x="153543" y="12700"/>
                  </a:lnTo>
                  <a:cubicBezTo>
                    <a:pt x="75819" y="12700"/>
                    <a:pt x="12700" y="75819"/>
                    <a:pt x="12700" y="15354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754829" y="6891928"/>
            <a:ext cx="3420370" cy="420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Secrets Management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54829" y="7382170"/>
            <a:ext cx="15613266" cy="48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Environment variables and secrets files prevent key exposure in production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5143" y="8345986"/>
            <a:ext cx="600818" cy="600818"/>
            <a:chOff x="0" y="0"/>
            <a:chExt cx="801091" cy="8010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788416" cy="788416"/>
            </a:xfrm>
            <a:custGeom>
              <a:avLst/>
              <a:gdLst/>
              <a:ahLst/>
              <a:cxnLst/>
              <a:rect r="r" b="b" t="t" l="l"/>
              <a:pathLst>
                <a:path h="788416" w="78841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41223" y="0"/>
                  </a:lnTo>
                  <a:cubicBezTo>
                    <a:pt x="722503" y="0"/>
                    <a:pt x="788416" y="65913"/>
                    <a:pt x="788416" y="147193"/>
                  </a:cubicBezTo>
                  <a:lnTo>
                    <a:pt x="788416" y="641223"/>
                  </a:lnTo>
                  <a:cubicBezTo>
                    <a:pt x="788416" y="722503"/>
                    <a:pt x="722503" y="788416"/>
                    <a:pt x="641223" y="788416"/>
                  </a:cubicBezTo>
                  <a:lnTo>
                    <a:pt x="147193" y="788416"/>
                  </a:lnTo>
                  <a:cubicBezTo>
                    <a:pt x="65913" y="788416"/>
                    <a:pt x="0" y="722503"/>
                    <a:pt x="0" y="641223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1116" cy="801116"/>
            </a:xfrm>
            <a:custGeom>
              <a:avLst/>
              <a:gdLst/>
              <a:ahLst/>
              <a:cxnLst/>
              <a:rect r="r" b="b" t="t" l="l"/>
              <a:pathLst>
                <a:path h="801116" w="801116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47573" y="0"/>
                  </a:lnTo>
                  <a:lnTo>
                    <a:pt x="647573" y="6350"/>
                  </a:lnTo>
                  <a:lnTo>
                    <a:pt x="647573" y="0"/>
                  </a:lnTo>
                  <a:cubicBezTo>
                    <a:pt x="732409" y="0"/>
                    <a:pt x="801116" y="68707"/>
                    <a:pt x="801116" y="153543"/>
                  </a:cubicBezTo>
                  <a:lnTo>
                    <a:pt x="794766" y="153543"/>
                  </a:lnTo>
                  <a:lnTo>
                    <a:pt x="801116" y="153543"/>
                  </a:lnTo>
                  <a:lnTo>
                    <a:pt x="801116" y="647573"/>
                  </a:lnTo>
                  <a:lnTo>
                    <a:pt x="794766" y="647573"/>
                  </a:lnTo>
                  <a:lnTo>
                    <a:pt x="801116" y="647573"/>
                  </a:lnTo>
                  <a:cubicBezTo>
                    <a:pt x="801116" y="732409"/>
                    <a:pt x="732409" y="801116"/>
                    <a:pt x="647573" y="801116"/>
                  </a:cubicBezTo>
                  <a:lnTo>
                    <a:pt x="647573" y="794766"/>
                  </a:lnTo>
                  <a:lnTo>
                    <a:pt x="647573" y="801116"/>
                  </a:lnTo>
                  <a:lnTo>
                    <a:pt x="153543" y="801116"/>
                  </a:lnTo>
                  <a:lnTo>
                    <a:pt x="153543" y="794766"/>
                  </a:lnTo>
                  <a:lnTo>
                    <a:pt x="153543" y="801116"/>
                  </a:lnTo>
                  <a:cubicBezTo>
                    <a:pt x="68707" y="801116"/>
                    <a:pt x="0" y="732409"/>
                    <a:pt x="0" y="647573"/>
                  </a:cubicBezTo>
                  <a:lnTo>
                    <a:pt x="0" y="153543"/>
                  </a:lnTo>
                  <a:lnTo>
                    <a:pt x="6350" y="153543"/>
                  </a:lnTo>
                  <a:lnTo>
                    <a:pt x="0" y="153543"/>
                  </a:lnTo>
                  <a:moveTo>
                    <a:pt x="12700" y="153543"/>
                  </a:moveTo>
                  <a:lnTo>
                    <a:pt x="12700" y="647573"/>
                  </a:lnTo>
                  <a:lnTo>
                    <a:pt x="6350" y="647573"/>
                  </a:lnTo>
                  <a:lnTo>
                    <a:pt x="12700" y="647573"/>
                  </a:lnTo>
                  <a:cubicBezTo>
                    <a:pt x="12700" y="725297"/>
                    <a:pt x="75819" y="788416"/>
                    <a:pt x="153543" y="788416"/>
                  </a:cubicBezTo>
                  <a:lnTo>
                    <a:pt x="647573" y="788416"/>
                  </a:lnTo>
                  <a:cubicBezTo>
                    <a:pt x="725297" y="788416"/>
                    <a:pt x="788416" y="725297"/>
                    <a:pt x="788416" y="647573"/>
                  </a:cubicBezTo>
                  <a:lnTo>
                    <a:pt x="788416" y="153543"/>
                  </a:lnTo>
                  <a:cubicBezTo>
                    <a:pt x="788416" y="75819"/>
                    <a:pt x="725297" y="12700"/>
                    <a:pt x="647573" y="12700"/>
                  </a:cubicBezTo>
                  <a:lnTo>
                    <a:pt x="153543" y="12700"/>
                  </a:lnTo>
                  <a:lnTo>
                    <a:pt x="153543" y="6350"/>
                  </a:lnTo>
                  <a:lnTo>
                    <a:pt x="153543" y="12700"/>
                  </a:lnTo>
                  <a:cubicBezTo>
                    <a:pt x="75819" y="12700"/>
                    <a:pt x="12700" y="75819"/>
                    <a:pt x="12700" y="15354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754829" y="8431559"/>
            <a:ext cx="4323607" cy="420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Minimal Backend Exposure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54829" y="8921801"/>
            <a:ext cx="15613266" cy="48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Production UI hides internal implementation details from end users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87256"/>
            <a:ext cx="12212393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Market Opportunity and User Value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191466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Who Benefits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851224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EmoSense delivers meaningful value to users who need emotional support: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013569"/>
            <a:ext cx="7805890" cy="355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Feels emotionally aligned, not like another generic chatbot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Reduces friction to start self-regulation actions quickly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Helps users who cannot easily articulate emotions in words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Encourages help-seeking through visible support pathways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3191466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Market Entry Points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397" y="3851224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Digital mental wellbeing tools are growing rapidly across consumer, education, and workplace sectors: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397" y="5013569"/>
            <a:ext cx="7805890" cy="255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B2C: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Wellbeing companion app for everyday mental health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B2B: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Wellness integration for HR and edtech platforms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API/SDK: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Health-tech product integrations and white-label solutions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817914" y="1307459"/>
            <a:ext cx="5609777" cy="592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Roadmap and Next Steps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817914" y="4034580"/>
            <a:ext cx="12652029" cy="19050"/>
            <a:chOff x="0" y="0"/>
            <a:chExt cx="16869372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69411" cy="25400"/>
            </a:xfrm>
            <a:custGeom>
              <a:avLst/>
              <a:gdLst/>
              <a:ahLst/>
              <a:cxnLst/>
              <a:rect r="r" b="b" t="t" l="l"/>
              <a:pathLst>
                <a:path h="25400" w="1686941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6856711" y="0"/>
                  </a:lnTo>
                  <a:cubicBezTo>
                    <a:pt x="16863696" y="0"/>
                    <a:pt x="16869411" y="5715"/>
                    <a:pt x="16869411" y="12700"/>
                  </a:cubicBezTo>
                  <a:cubicBezTo>
                    <a:pt x="16869411" y="19685"/>
                    <a:pt x="16863696" y="25400"/>
                    <a:pt x="1685671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934370" y="3484512"/>
            <a:ext cx="19050" cy="550069"/>
            <a:chOff x="0" y="0"/>
            <a:chExt cx="25400" cy="7334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400" cy="733425"/>
            </a:xfrm>
            <a:custGeom>
              <a:avLst/>
              <a:gdLst/>
              <a:ahLst/>
              <a:cxnLst/>
              <a:rect r="r" b="b" t="t" l="l"/>
              <a:pathLst>
                <a:path h="733425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20725"/>
                  </a:lnTo>
                  <a:cubicBezTo>
                    <a:pt x="25400" y="727710"/>
                    <a:pt x="19685" y="733425"/>
                    <a:pt x="12700" y="733425"/>
                  </a:cubicBezTo>
                  <a:cubicBezTo>
                    <a:pt x="5715" y="733425"/>
                    <a:pt x="0" y="727710"/>
                    <a:pt x="0" y="720725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732859" y="3823545"/>
            <a:ext cx="422072" cy="422072"/>
            <a:chOff x="0" y="0"/>
            <a:chExt cx="562762" cy="5627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550164" cy="550164"/>
            </a:xfrm>
            <a:custGeom>
              <a:avLst/>
              <a:gdLst/>
              <a:ahLst/>
              <a:cxnLst/>
              <a:rect r="r" b="b" t="t" l="l"/>
              <a:pathLst>
                <a:path h="550164" w="550164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447421" y="0"/>
                  </a:lnTo>
                  <a:cubicBezTo>
                    <a:pt x="504190" y="0"/>
                    <a:pt x="550164" y="45974"/>
                    <a:pt x="550164" y="102743"/>
                  </a:cubicBezTo>
                  <a:lnTo>
                    <a:pt x="550164" y="447421"/>
                  </a:lnTo>
                  <a:cubicBezTo>
                    <a:pt x="550164" y="504190"/>
                    <a:pt x="504190" y="550164"/>
                    <a:pt x="447421" y="550164"/>
                  </a:cubicBezTo>
                  <a:lnTo>
                    <a:pt x="102743" y="550164"/>
                  </a:lnTo>
                  <a:cubicBezTo>
                    <a:pt x="45974" y="550037"/>
                    <a:pt x="0" y="504063"/>
                    <a:pt x="0" y="447421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2864" cy="562864"/>
            </a:xfrm>
            <a:custGeom>
              <a:avLst/>
              <a:gdLst/>
              <a:ahLst/>
              <a:cxnLst/>
              <a:rect r="r" b="b" t="t" l="l"/>
              <a:pathLst>
                <a:path h="562864" w="562864">
                  <a:moveTo>
                    <a:pt x="0" y="109093"/>
                  </a:moveTo>
                  <a:cubicBezTo>
                    <a:pt x="0" y="48768"/>
                    <a:pt x="48768" y="0"/>
                    <a:pt x="109093" y="0"/>
                  </a:cubicBezTo>
                  <a:lnTo>
                    <a:pt x="453771" y="0"/>
                  </a:lnTo>
                  <a:lnTo>
                    <a:pt x="453771" y="6350"/>
                  </a:lnTo>
                  <a:lnTo>
                    <a:pt x="453771" y="0"/>
                  </a:lnTo>
                  <a:lnTo>
                    <a:pt x="453771" y="6350"/>
                  </a:lnTo>
                  <a:lnTo>
                    <a:pt x="453771" y="0"/>
                  </a:lnTo>
                  <a:cubicBezTo>
                    <a:pt x="513969" y="0"/>
                    <a:pt x="562864" y="48768"/>
                    <a:pt x="562864" y="109093"/>
                  </a:cubicBezTo>
                  <a:lnTo>
                    <a:pt x="556514" y="109093"/>
                  </a:lnTo>
                  <a:lnTo>
                    <a:pt x="562864" y="109093"/>
                  </a:lnTo>
                  <a:lnTo>
                    <a:pt x="562864" y="453771"/>
                  </a:lnTo>
                  <a:lnTo>
                    <a:pt x="556514" y="453771"/>
                  </a:lnTo>
                  <a:lnTo>
                    <a:pt x="562864" y="453771"/>
                  </a:lnTo>
                  <a:cubicBezTo>
                    <a:pt x="562864" y="513969"/>
                    <a:pt x="514096" y="562864"/>
                    <a:pt x="453771" y="562864"/>
                  </a:cubicBezTo>
                  <a:lnTo>
                    <a:pt x="453771" y="556514"/>
                  </a:lnTo>
                  <a:lnTo>
                    <a:pt x="453771" y="562864"/>
                  </a:lnTo>
                  <a:lnTo>
                    <a:pt x="109093" y="562864"/>
                  </a:lnTo>
                  <a:lnTo>
                    <a:pt x="109093" y="556514"/>
                  </a:lnTo>
                  <a:lnTo>
                    <a:pt x="109093" y="562864"/>
                  </a:lnTo>
                  <a:cubicBezTo>
                    <a:pt x="48768" y="562737"/>
                    <a:pt x="0" y="513969"/>
                    <a:pt x="0" y="453771"/>
                  </a:cubicBezTo>
                  <a:lnTo>
                    <a:pt x="0" y="109093"/>
                  </a:lnTo>
                  <a:lnTo>
                    <a:pt x="6350" y="109093"/>
                  </a:lnTo>
                  <a:lnTo>
                    <a:pt x="0" y="109093"/>
                  </a:lnTo>
                  <a:moveTo>
                    <a:pt x="12700" y="109093"/>
                  </a:moveTo>
                  <a:lnTo>
                    <a:pt x="12700" y="453771"/>
                  </a:lnTo>
                  <a:lnTo>
                    <a:pt x="6350" y="453771"/>
                  </a:lnTo>
                  <a:lnTo>
                    <a:pt x="12700" y="453771"/>
                  </a:lnTo>
                  <a:cubicBezTo>
                    <a:pt x="12700" y="506984"/>
                    <a:pt x="55880" y="550164"/>
                    <a:pt x="109093" y="550164"/>
                  </a:cubicBezTo>
                  <a:lnTo>
                    <a:pt x="453771" y="550164"/>
                  </a:lnTo>
                  <a:cubicBezTo>
                    <a:pt x="506984" y="550164"/>
                    <a:pt x="550164" y="506984"/>
                    <a:pt x="550164" y="453771"/>
                  </a:cubicBezTo>
                  <a:lnTo>
                    <a:pt x="550164" y="109093"/>
                  </a:lnTo>
                  <a:cubicBezTo>
                    <a:pt x="550037" y="55880"/>
                    <a:pt x="506984" y="12700"/>
                    <a:pt x="453771" y="12700"/>
                  </a:cubicBezTo>
                  <a:lnTo>
                    <a:pt x="109093" y="12700"/>
                  </a:lnTo>
                  <a:lnTo>
                    <a:pt x="109093" y="6350"/>
                  </a:lnTo>
                  <a:lnTo>
                    <a:pt x="109093" y="12700"/>
                  </a:lnTo>
                  <a:cubicBezTo>
                    <a:pt x="55880" y="12700"/>
                    <a:pt x="12700" y="55880"/>
                    <a:pt x="12700" y="10909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806383" y="3900783"/>
            <a:ext cx="275034" cy="30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21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97923" y="2117522"/>
            <a:ext cx="2291953" cy="3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Short Term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01270" y="2475157"/>
            <a:ext cx="5885259" cy="82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1874"/>
              </a:lnSpc>
              <a:buFont typeface="Arial"/>
              <a:buChar char="•"/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Multilingual support expansion</a:t>
            </a:r>
          </a:p>
          <a:p>
            <a:pPr algn="l" marL="216793" indent="-108396" lvl="1">
              <a:lnSpc>
                <a:spcPts val="1874"/>
              </a:lnSpc>
              <a:buFont typeface="Arial"/>
              <a:buChar char="•"/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Personalized recommendation ranking</a:t>
            </a:r>
          </a:p>
          <a:p>
            <a:pPr algn="l" marL="216793" indent="-108396" lvl="1">
              <a:lnSpc>
                <a:spcPts val="1874"/>
              </a:lnSpc>
              <a:buFont typeface="Arial"/>
              <a:buChar char="•"/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Improved contradiction calibration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34323" y="4034580"/>
            <a:ext cx="19050" cy="550069"/>
            <a:chOff x="0" y="0"/>
            <a:chExt cx="25400" cy="7334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400" cy="733425"/>
            </a:xfrm>
            <a:custGeom>
              <a:avLst/>
              <a:gdLst/>
              <a:ahLst/>
              <a:cxnLst/>
              <a:rect r="r" b="b" t="t" l="l"/>
              <a:pathLst>
                <a:path h="733425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20725"/>
                  </a:lnTo>
                  <a:cubicBezTo>
                    <a:pt x="25400" y="727710"/>
                    <a:pt x="19685" y="733425"/>
                    <a:pt x="12700" y="733425"/>
                  </a:cubicBezTo>
                  <a:cubicBezTo>
                    <a:pt x="5715" y="733425"/>
                    <a:pt x="0" y="727710"/>
                    <a:pt x="0" y="720725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932812" y="3823545"/>
            <a:ext cx="422072" cy="422072"/>
            <a:chOff x="0" y="0"/>
            <a:chExt cx="562762" cy="5627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550164" cy="550164"/>
            </a:xfrm>
            <a:custGeom>
              <a:avLst/>
              <a:gdLst/>
              <a:ahLst/>
              <a:cxnLst/>
              <a:rect r="r" b="b" t="t" l="l"/>
              <a:pathLst>
                <a:path h="550164" w="550164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447421" y="0"/>
                  </a:lnTo>
                  <a:cubicBezTo>
                    <a:pt x="504190" y="0"/>
                    <a:pt x="550164" y="45974"/>
                    <a:pt x="550164" y="102743"/>
                  </a:cubicBezTo>
                  <a:lnTo>
                    <a:pt x="550164" y="447421"/>
                  </a:lnTo>
                  <a:cubicBezTo>
                    <a:pt x="550164" y="504190"/>
                    <a:pt x="504190" y="550164"/>
                    <a:pt x="447421" y="550164"/>
                  </a:cubicBezTo>
                  <a:lnTo>
                    <a:pt x="102743" y="550164"/>
                  </a:lnTo>
                  <a:cubicBezTo>
                    <a:pt x="45974" y="550037"/>
                    <a:pt x="0" y="504063"/>
                    <a:pt x="0" y="447421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2864" cy="562864"/>
            </a:xfrm>
            <a:custGeom>
              <a:avLst/>
              <a:gdLst/>
              <a:ahLst/>
              <a:cxnLst/>
              <a:rect r="r" b="b" t="t" l="l"/>
              <a:pathLst>
                <a:path h="562864" w="562864">
                  <a:moveTo>
                    <a:pt x="0" y="109093"/>
                  </a:moveTo>
                  <a:cubicBezTo>
                    <a:pt x="0" y="48768"/>
                    <a:pt x="48768" y="0"/>
                    <a:pt x="109093" y="0"/>
                  </a:cubicBezTo>
                  <a:lnTo>
                    <a:pt x="453771" y="0"/>
                  </a:lnTo>
                  <a:lnTo>
                    <a:pt x="453771" y="6350"/>
                  </a:lnTo>
                  <a:lnTo>
                    <a:pt x="453771" y="0"/>
                  </a:lnTo>
                  <a:lnTo>
                    <a:pt x="453771" y="6350"/>
                  </a:lnTo>
                  <a:lnTo>
                    <a:pt x="453771" y="0"/>
                  </a:lnTo>
                  <a:cubicBezTo>
                    <a:pt x="513969" y="0"/>
                    <a:pt x="562864" y="48768"/>
                    <a:pt x="562864" y="109093"/>
                  </a:cubicBezTo>
                  <a:lnTo>
                    <a:pt x="556514" y="109093"/>
                  </a:lnTo>
                  <a:lnTo>
                    <a:pt x="562864" y="109093"/>
                  </a:lnTo>
                  <a:lnTo>
                    <a:pt x="562864" y="453771"/>
                  </a:lnTo>
                  <a:lnTo>
                    <a:pt x="556514" y="453771"/>
                  </a:lnTo>
                  <a:lnTo>
                    <a:pt x="562864" y="453771"/>
                  </a:lnTo>
                  <a:cubicBezTo>
                    <a:pt x="562864" y="513969"/>
                    <a:pt x="514096" y="562864"/>
                    <a:pt x="453771" y="562864"/>
                  </a:cubicBezTo>
                  <a:lnTo>
                    <a:pt x="453771" y="556514"/>
                  </a:lnTo>
                  <a:lnTo>
                    <a:pt x="453771" y="562864"/>
                  </a:lnTo>
                  <a:lnTo>
                    <a:pt x="109093" y="562864"/>
                  </a:lnTo>
                  <a:lnTo>
                    <a:pt x="109093" y="556514"/>
                  </a:lnTo>
                  <a:lnTo>
                    <a:pt x="109093" y="562864"/>
                  </a:lnTo>
                  <a:cubicBezTo>
                    <a:pt x="48768" y="562737"/>
                    <a:pt x="0" y="513969"/>
                    <a:pt x="0" y="453771"/>
                  </a:cubicBezTo>
                  <a:lnTo>
                    <a:pt x="0" y="109093"/>
                  </a:lnTo>
                  <a:lnTo>
                    <a:pt x="6350" y="109093"/>
                  </a:lnTo>
                  <a:lnTo>
                    <a:pt x="0" y="109093"/>
                  </a:lnTo>
                  <a:moveTo>
                    <a:pt x="12700" y="109093"/>
                  </a:moveTo>
                  <a:lnTo>
                    <a:pt x="12700" y="453771"/>
                  </a:lnTo>
                  <a:lnTo>
                    <a:pt x="6350" y="453771"/>
                  </a:lnTo>
                  <a:lnTo>
                    <a:pt x="12700" y="453771"/>
                  </a:lnTo>
                  <a:cubicBezTo>
                    <a:pt x="12700" y="506984"/>
                    <a:pt x="55880" y="550164"/>
                    <a:pt x="109093" y="550164"/>
                  </a:cubicBezTo>
                  <a:lnTo>
                    <a:pt x="453771" y="550164"/>
                  </a:lnTo>
                  <a:cubicBezTo>
                    <a:pt x="506984" y="550164"/>
                    <a:pt x="550164" y="506984"/>
                    <a:pt x="550164" y="453771"/>
                  </a:cubicBezTo>
                  <a:lnTo>
                    <a:pt x="550164" y="109093"/>
                  </a:lnTo>
                  <a:cubicBezTo>
                    <a:pt x="550037" y="55880"/>
                    <a:pt x="506984" y="12700"/>
                    <a:pt x="453771" y="12700"/>
                  </a:cubicBezTo>
                  <a:lnTo>
                    <a:pt x="109093" y="12700"/>
                  </a:lnTo>
                  <a:lnTo>
                    <a:pt x="109093" y="6350"/>
                  </a:lnTo>
                  <a:lnTo>
                    <a:pt x="109093" y="12700"/>
                  </a:lnTo>
                  <a:cubicBezTo>
                    <a:pt x="55880" y="12700"/>
                    <a:pt x="12700" y="55880"/>
                    <a:pt x="12700" y="10909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006335" y="3900783"/>
            <a:ext cx="275034" cy="30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21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97876" y="4748955"/>
            <a:ext cx="2291953" cy="3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Mid Term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01223" y="5106591"/>
            <a:ext cx="5885259" cy="82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1874"/>
              </a:lnSpc>
              <a:buFont typeface="Arial"/>
              <a:buChar char="•"/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Longitudinal trends analysis</a:t>
            </a:r>
          </a:p>
          <a:p>
            <a:pPr algn="l" marL="216793" indent="-108396" lvl="1">
              <a:lnSpc>
                <a:spcPts val="1874"/>
              </a:lnSpc>
              <a:buFont typeface="Arial"/>
              <a:buChar char="•"/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Weekly emotional summaries</a:t>
            </a:r>
          </a:p>
          <a:p>
            <a:pPr algn="l" marL="216793" indent="-108396" lvl="1">
              <a:lnSpc>
                <a:spcPts val="1874"/>
              </a:lnSpc>
              <a:buFont typeface="Arial"/>
              <a:buChar char="•"/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Clinician handoff pathways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334427" y="3484512"/>
            <a:ext cx="19050" cy="550069"/>
            <a:chOff x="0" y="0"/>
            <a:chExt cx="25400" cy="7334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400" cy="733425"/>
            </a:xfrm>
            <a:custGeom>
              <a:avLst/>
              <a:gdLst/>
              <a:ahLst/>
              <a:cxnLst/>
              <a:rect r="r" b="b" t="t" l="l"/>
              <a:pathLst>
                <a:path h="733425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20725"/>
                  </a:lnTo>
                  <a:cubicBezTo>
                    <a:pt x="25400" y="727710"/>
                    <a:pt x="19685" y="733425"/>
                    <a:pt x="12700" y="733425"/>
                  </a:cubicBezTo>
                  <a:cubicBezTo>
                    <a:pt x="5715" y="733425"/>
                    <a:pt x="0" y="727710"/>
                    <a:pt x="0" y="720725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132916" y="3823545"/>
            <a:ext cx="422072" cy="422072"/>
            <a:chOff x="0" y="0"/>
            <a:chExt cx="562762" cy="5627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550164" cy="550164"/>
            </a:xfrm>
            <a:custGeom>
              <a:avLst/>
              <a:gdLst/>
              <a:ahLst/>
              <a:cxnLst/>
              <a:rect r="r" b="b" t="t" l="l"/>
              <a:pathLst>
                <a:path h="550164" w="550164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447421" y="0"/>
                  </a:lnTo>
                  <a:cubicBezTo>
                    <a:pt x="504190" y="0"/>
                    <a:pt x="550164" y="45974"/>
                    <a:pt x="550164" y="102743"/>
                  </a:cubicBezTo>
                  <a:lnTo>
                    <a:pt x="550164" y="447421"/>
                  </a:lnTo>
                  <a:cubicBezTo>
                    <a:pt x="550164" y="504190"/>
                    <a:pt x="504190" y="550164"/>
                    <a:pt x="447421" y="550164"/>
                  </a:cubicBezTo>
                  <a:lnTo>
                    <a:pt x="102743" y="550164"/>
                  </a:lnTo>
                  <a:cubicBezTo>
                    <a:pt x="45974" y="550037"/>
                    <a:pt x="0" y="504063"/>
                    <a:pt x="0" y="447421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2864" cy="562864"/>
            </a:xfrm>
            <a:custGeom>
              <a:avLst/>
              <a:gdLst/>
              <a:ahLst/>
              <a:cxnLst/>
              <a:rect r="r" b="b" t="t" l="l"/>
              <a:pathLst>
                <a:path h="562864" w="562864">
                  <a:moveTo>
                    <a:pt x="0" y="109093"/>
                  </a:moveTo>
                  <a:cubicBezTo>
                    <a:pt x="0" y="48768"/>
                    <a:pt x="48768" y="0"/>
                    <a:pt x="109093" y="0"/>
                  </a:cubicBezTo>
                  <a:lnTo>
                    <a:pt x="453771" y="0"/>
                  </a:lnTo>
                  <a:lnTo>
                    <a:pt x="453771" y="6350"/>
                  </a:lnTo>
                  <a:lnTo>
                    <a:pt x="453771" y="0"/>
                  </a:lnTo>
                  <a:lnTo>
                    <a:pt x="453771" y="6350"/>
                  </a:lnTo>
                  <a:lnTo>
                    <a:pt x="453771" y="0"/>
                  </a:lnTo>
                  <a:cubicBezTo>
                    <a:pt x="513969" y="0"/>
                    <a:pt x="562864" y="48768"/>
                    <a:pt x="562864" y="109093"/>
                  </a:cubicBezTo>
                  <a:lnTo>
                    <a:pt x="556514" y="109093"/>
                  </a:lnTo>
                  <a:lnTo>
                    <a:pt x="562864" y="109093"/>
                  </a:lnTo>
                  <a:lnTo>
                    <a:pt x="562864" y="453771"/>
                  </a:lnTo>
                  <a:lnTo>
                    <a:pt x="556514" y="453771"/>
                  </a:lnTo>
                  <a:lnTo>
                    <a:pt x="562864" y="453771"/>
                  </a:lnTo>
                  <a:cubicBezTo>
                    <a:pt x="562864" y="513969"/>
                    <a:pt x="514096" y="562864"/>
                    <a:pt x="453771" y="562864"/>
                  </a:cubicBezTo>
                  <a:lnTo>
                    <a:pt x="453771" y="556514"/>
                  </a:lnTo>
                  <a:lnTo>
                    <a:pt x="453771" y="562864"/>
                  </a:lnTo>
                  <a:lnTo>
                    <a:pt x="109093" y="562864"/>
                  </a:lnTo>
                  <a:lnTo>
                    <a:pt x="109093" y="556514"/>
                  </a:lnTo>
                  <a:lnTo>
                    <a:pt x="109093" y="562864"/>
                  </a:lnTo>
                  <a:cubicBezTo>
                    <a:pt x="48768" y="562737"/>
                    <a:pt x="0" y="513969"/>
                    <a:pt x="0" y="453771"/>
                  </a:cubicBezTo>
                  <a:lnTo>
                    <a:pt x="0" y="109093"/>
                  </a:lnTo>
                  <a:lnTo>
                    <a:pt x="6350" y="109093"/>
                  </a:lnTo>
                  <a:lnTo>
                    <a:pt x="0" y="109093"/>
                  </a:lnTo>
                  <a:moveTo>
                    <a:pt x="12700" y="109093"/>
                  </a:moveTo>
                  <a:lnTo>
                    <a:pt x="12700" y="453771"/>
                  </a:lnTo>
                  <a:lnTo>
                    <a:pt x="6350" y="453771"/>
                  </a:lnTo>
                  <a:lnTo>
                    <a:pt x="12700" y="453771"/>
                  </a:lnTo>
                  <a:cubicBezTo>
                    <a:pt x="12700" y="506984"/>
                    <a:pt x="55880" y="550164"/>
                    <a:pt x="109093" y="550164"/>
                  </a:cubicBezTo>
                  <a:lnTo>
                    <a:pt x="453771" y="550164"/>
                  </a:lnTo>
                  <a:cubicBezTo>
                    <a:pt x="506984" y="550164"/>
                    <a:pt x="550164" y="506984"/>
                    <a:pt x="550164" y="453771"/>
                  </a:cubicBezTo>
                  <a:lnTo>
                    <a:pt x="550164" y="109093"/>
                  </a:lnTo>
                  <a:cubicBezTo>
                    <a:pt x="550037" y="55880"/>
                    <a:pt x="506984" y="12700"/>
                    <a:pt x="453771" y="12700"/>
                  </a:cubicBezTo>
                  <a:lnTo>
                    <a:pt x="109093" y="12700"/>
                  </a:lnTo>
                  <a:lnTo>
                    <a:pt x="109093" y="6350"/>
                  </a:lnTo>
                  <a:lnTo>
                    <a:pt x="109093" y="12700"/>
                  </a:lnTo>
                  <a:cubicBezTo>
                    <a:pt x="55880" y="12700"/>
                    <a:pt x="12700" y="55880"/>
                    <a:pt x="12700" y="10909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206440" y="3900783"/>
            <a:ext cx="275034" cy="30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21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97981" y="2117522"/>
            <a:ext cx="2291953" cy="3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Long Term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01327" y="2475157"/>
            <a:ext cx="5885259" cy="82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1874"/>
              </a:lnSpc>
              <a:buFont typeface="Arial"/>
              <a:buChar char="•"/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Mobile app development</a:t>
            </a:r>
          </a:p>
          <a:p>
            <a:pPr algn="l" marL="216793" indent="-108396" lvl="1">
              <a:lnSpc>
                <a:spcPts val="1874"/>
              </a:lnSpc>
              <a:buFont typeface="Arial"/>
              <a:buChar char="•"/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edge inference</a:t>
            </a:r>
          </a:p>
          <a:p>
            <a:pPr algn="l" marL="216793" indent="-108396" lvl="1">
              <a:lnSpc>
                <a:spcPts val="1874"/>
              </a:lnSpc>
              <a:buFont typeface="Arial"/>
              <a:buChar char="•"/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Lightweight on-device models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2817914" y="6157617"/>
            <a:ext cx="12652029" cy="32442"/>
            <a:chOff x="0" y="0"/>
            <a:chExt cx="16869372" cy="432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869411" cy="43307"/>
            </a:xfrm>
            <a:custGeom>
              <a:avLst/>
              <a:gdLst/>
              <a:ahLst/>
              <a:cxnLst/>
              <a:rect r="r" b="b" t="t" l="l"/>
              <a:pathLst>
                <a:path h="43307" w="16869411">
                  <a:moveTo>
                    <a:pt x="0" y="0"/>
                  </a:moveTo>
                  <a:lnTo>
                    <a:pt x="16869411" y="0"/>
                  </a:lnTo>
                  <a:lnTo>
                    <a:pt x="16869411" y="43307"/>
                  </a:lnTo>
                  <a:lnTo>
                    <a:pt x="0" y="43307"/>
                  </a:lnTo>
                  <a:close/>
                </a:path>
              </a:pathLst>
            </a:custGeom>
            <a:solidFill>
              <a:srgbClr val="272525">
                <a:alpha val="24706"/>
              </a:srgbClr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817914" y="6348860"/>
            <a:ext cx="2291953" cy="3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We Need Now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2808389" y="6822729"/>
            <a:ext cx="4157367" cy="1505693"/>
            <a:chOff x="0" y="0"/>
            <a:chExt cx="5543156" cy="20075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5517769" cy="1982089"/>
            </a:xfrm>
            <a:custGeom>
              <a:avLst/>
              <a:gdLst/>
              <a:ahLst/>
              <a:cxnLst/>
              <a:rect r="r" b="b" t="t" l="l"/>
              <a:pathLst>
                <a:path h="1982089" w="5517769">
                  <a:moveTo>
                    <a:pt x="0" y="102616"/>
                  </a:moveTo>
                  <a:cubicBezTo>
                    <a:pt x="0" y="45974"/>
                    <a:pt x="46355" y="0"/>
                    <a:pt x="103505" y="0"/>
                  </a:cubicBezTo>
                  <a:lnTo>
                    <a:pt x="5414264" y="0"/>
                  </a:lnTo>
                  <a:cubicBezTo>
                    <a:pt x="5471414" y="0"/>
                    <a:pt x="5517769" y="45974"/>
                    <a:pt x="5517769" y="102616"/>
                  </a:cubicBezTo>
                  <a:lnTo>
                    <a:pt x="5517769" y="1879473"/>
                  </a:lnTo>
                  <a:cubicBezTo>
                    <a:pt x="5517769" y="1936242"/>
                    <a:pt x="5471414" y="1982089"/>
                    <a:pt x="5414264" y="1982089"/>
                  </a:cubicBezTo>
                  <a:lnTo>
                    <a:pt x="103505" y="1982089"/>
                  </a:lnTo>
                  <a:cubicBezTo>
                    <a:pt x="46355" y="1982089"/>
                    <a:pt x="0" y="1936115"/>
                    <a:pt x="0" y="18794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43169" cy="2007489"/>
            </a:xfrm>
            <a:custGeom>
              <a:avLst/>
              <a:gdLst/>
              <a:ahLst/>
              <a:cxnLst/>
              <a:rect r="r" b="b" t="t" l="l"/>
              <a:pathLst>
                <a:path h="2007489" w="5543169">
                  <a:moveTo>
                    <a:pt x="0" y="115316"/>
                  </a:moveTo>
                  <a:cubicBezTo>
                    <a:pt x="0" y="51562"/>
                    <a:pt x="52070" y="0"/>
                    <a:pt x="116205" y="0"/>
                  </a:cubicBezTo>
                  <a:lnTo>
                    <a:pt x="5426964" y="0"/>
                  </a:lnTo>
                  <a:lnTo>
                    <a:pt x="5426964" y="12700"/>
                  </a:lnTo>
                  <a:lnTo>
                    <a:pt x="5426964" y="0"/>
                  </a:lnTo>
                  <a:cubicBezTo>
                    <a:pt x="5491099" y="0"/>
                    <a:pt x="5543169" y="51562"/>
                    <a:pt x="5543169" y="115316"/>
                  </a:cubicBezTo>
                  <a:lnTo>
                    <a:pt x="5530469" y="115316"/>
                  </a:lnTo>
                  <a:lnTo>
                    <a:pt x="5543169" y="115316"/>
                  </a:lnTo>
                  <a:lnTo>
                    <a:pt x="5543169" y="1892173"/>
                  </a:lnTo>
                  <a:lnTo>
                    <a:pt x="5530469" y="1892173"/>
                  </a:lnTo>
                  <a:lnTo>
                    <a:pt x="5543169" y="1892173"/>
                  </a:lnTo>
                  <a:cubicBezTo>
                    <a:pt x="5543169" y="1956054"/>
                    <a:pt x="5491099" y="2007489"/>
                    <a:pt x="5426964" y="2007489"/>
                  </a:cubicBezTo>
                  <a:lnTo>
                    <a:pt x="5426964" y="1994789"/>
                  </a:lnTo>
                  <a:lnTo>
                    <a:pt x="5426964" y="2007489"/>
                  </a:lnTo>
                  <a:lnTo>
                    <a:pt x="116205" y="2007489"/>
                  </a:lnTo>
                  <a:lnTo>
                    <a:pt x="116205" y="1994789"/>
                  </a:lnTo>
                  <a:lnTo>
                    <a:pt x="116205" y="2007489"/>
                  </a:lnTo>
                  <a:cubicBezTo>
                    <a:pt x="52070" y="2007489"/>
                    <a:pt x="0" y="1955927"/>
                    <a:pt x="0" y="1892173"/>
                  </a:cubicBezTo>
                  <a:lnTo>
                    <a:pt x="0" y="115316"/>
                  </a:lnTo>
                  <a:lnTo>
                    <a:pt x="12700" y="115316"/>
                  </a:lnTo>
                  <a:lnTo>
                    <a:pt x="0" y="115316"/>
                  </a:lnTo>
                  <a:moveTo>
                    <a:pt x="25400" y="115316"/>
                  </a:moveTo>
                  <a:lnTo>
                    <a:pt x="25400" y="1892173"/>
                  </a:lnTo>
                  <a:lnTo>
                    <a:pt x="12700" y="1892173"/>
                  </a:lnTo>
                  <a:lnTo>
                    <a:pt x="25400" y="1892173"/>
                  </a:lnTo>
                  <a:cubicBezTo>
                    <a:pt x="25400" y="1941830"/>
                    <a:pt x="65913" y="1982089"/>
                    <a:pt x="116205" y="1982089"/>
                  </a:cubicBezTo>
                  <a:lnTo>
                    <a:pt x="5426964" y="1982089"/>
                  </a:lnTo>
                  <a:cubicBezTo>
                    <a:pt x="5477256" y="1982089"/>
                    <a:pt x="5517769" y="1941703"/>
                    <a:pt x="5517769" y="1892173"/>
                  </a:cubicBezTo>
                  <a:lnTo>
                    <a:pt x="5517769" y="115316"/>
                  </a:lnTo>
                  <a:cubicBezTo>
                    <a:pt x="5517769" y="65659"/>
                    <a:pt x="5477256" y="25400"/>
                    <a:pt x="5426964" y="25400"/>
                  </a:cubicBezTo>
                  <a:lnTo>
                    <a:pt x="116205" y="25400"/>
                  </a:lnTo>
                  <a:lnTo>
                    <a:pt x="116205" y="12700"/>
                  </a:lnTo>
                  <a:lnTo>
                    <a:pt x="116205" y="25400"/>
                  </a:lnTo>
                  <a:cubicBezTo>
                    <a:pt x="65913" y="25400"/>
                    <a:pt x="25400" y="65786"/>
                    <a:pt x="25400" y="115316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3020320" y="7015610"/>
            <a:ext cx="2291953" cy="3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Pilot Partners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020320" y="7373245"/>
            <a:ext cx="3733505" cy="74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Real-world validation with mental health organizations, universities, or workplace wellness programs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7065169" y="6822729"/>
            <a:ext cx="4157367" cy="1505693"/>
            <a:chOff x="0" y="0"/>
            <a:chExt cx="5543156" cy="20075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2700" y="12700"/>
              <a:ext cx="5517769" cy="1982089"/>
            </a:xfrm>
            <a:custGeom>
              <a:avLst/>
              <a:gdLst/>
              <a:ahLst/>
              <a:cxnLst/>
              <a:rect r="r" b="b" t="t" l="l"/>
              <a:pathLst>
                <a:path h="1982089" w="5517769">
                  <a:moveTo>
                    <a:pt x="0" y="102616"/>
                  </a:moveTo>
                  <a:cubicBezTo>
                    <a:pt x="0" y="45974"/>
                    <a:pt x="46355" y="0"/>
                    <a:pt x="103505" y="0"/>
                  </a:cubicBezTo>
                  <a:lnTo>
                    <a:pt x="5414264" y="0"/>
                  </a:lnTo>
                  <a:cubicBezTo>
                    <a:pt x="5471414" y="0"/>
                    <a:pt x="5517769" y="45974"/>
                    <a:pt x="5517769" y="102616"/>
                  </a:cubicBezTo>
                  <a:lnTo>
                    <a:pt x="5517769" y="1879473"/>
                  </a:lnTo>
                  <a:cubicBezTo>
                    <a:pt x="5517769" y="1936242"/>
                    <a:pt x="5471414" y="1982089"/>
                    <a:pt x="5414264" y="1982089"/>
                  </a:cubicBezTo>
                  <a:lnTo>
                    <a:pt x="103505" y="1982089"/>
                  </a:lnTo>
                  <a:cubicBezTo>
                    <a:pt x="46355" y="1982089"/>
                    <a:pt x="0" y="1936115"/>
                    <a:pt x="0" y="18794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543169" cy="2007489"/>
            </a:xfrm>
            <a:custGeom>
              <a:avLst/>
              <a:gdLst/>
              <a:ahLst/>
              <a:cxnLst/>
              <a:rect r="r" b="b" t="t" l="l"/>
              <a:pathLst>
                <a:path h="2007489" w="5543169">
                  <a:moveTo>
                    <a:pt x="0" y="115316"/>
                  </a:moveTo>
                  <a:cubicBezTo>
                    <a:pt x="0" y="51562"/>
                    <a:pt x="52070" y="0"/>
                    <a:pt x="116205" y="0"/>
                  </a:cubicBezTo>
                  <a:lnTo>
                    <a:pt x="5426964" y="0"/>
                  </a:lnTo>
                  <a:lnTo>
                    <a:pt x="5426964" y="12700"/>
                  </a:lnTo>
                  <a:lnTo>
                    <a:pt x="5426964" y="0"/>
                  </a:lnTo>
                  <a:cubicBezTo>
                    <a:pt x="5491099" y="0"/>
                    <a:pt x="5543169" y="51562"/>
                    <a:pt x="5543169" y="115316"/>
                  </a:cubicBezTo>
                  <a:lnTo>
                    <a:pt x="5530469" y="115316"/>
                  </a:lnTo>
                  <a:lnTo>
                    <a:pt x="5543169" y="115316"/>
                  </a:lnTo>
                  <a:lnTo>
                    <a:pt x="5543169" y="1892173"/>
                  </a:lnTo>
                  <a:lnTo>
                    <a:pt x="5530469" y="1892173"/>
                  </a:lnTo>
                  <a:lnTo>
                    <a:pt x="5543169" y="1892173"/>
                  </a:lnTo>
                  <a:cubicBezTo>
                    <a:pt x="5543169" y="1956054"/>
                    <a:pt x="5491099" y="2007489"/>
                    <a:pt x="5426964" y="2007489"/>
                  </a:cubicBezTo>
                  <a:lnTo>
                    <a:pt x="5426964" y="1994789"/>
                  </a:lnTo>
                  <a:lnTo>
                    <a:pt x="5426964" y="2007489"/>
                  </a:lnTo>
                  <a:lnTo>
                    <a:pt x="116205" y="2007489"/>
                  </a:lnTo>
                  <a:lnTo>
                    <a:pt x="116205" y="1994789"/>
                  </a:lnTo>
                  <a:lnTo>
                    <a:pt x="116205" y="2007489"/>
                  </a:lnTo>
                  <a:cubicBezTo>
                    <a:pt x="52070" y="2007489"/>
                    <a:pt x="0" y="1955927"/>
                    <a:pt x="0" y="1892173"/>
                  </a:cubicBezTo>
                  <a:lnTo>
                    <a:pt x="0" y="115316"/>
                  </a:lnTo>
                  <a:lnTo>
                    <a:pt x="12700" y="115316"/>
                  </a:lnTo>
                  <a:lnTo>
                    <a:pt x="0" y="115316"/>
                  </a:lnTo>
                  <a:moveTo>
                    <a:pt x="25400" y="115316"/>
                  </a:moveTo>
                  <a:lnTo>
                    <a:pt x="25400" y="1892173"/>
                  </a:lnTo>
                  <a:lnTo>
                    <a:pt x="12700" y="1892173"/>
                  </a:lnTo>
                  <a:lnTo>
                    <a:pt x="25400" y="1892173"/>
                  </a:lnTo>
                  <a:cubicBezTo>
                    <a:pt x="25400" y="1941830"/>
                    <a:pt x="65913" y="1982089"/>
                    <a:pt x="116205" y="1982089"/>
                  </a:cubicBezTo>
                  <a:lnTo>
                    <a:pt x="5426964" y="1982089"/>
                  </a:lnTo>
                  <a:cubicBezTo>
                    <a:pt x="5477256" y="1982089"/>
                    <a:pt x="5517769" y="1941703"/>
                    <a:pt x="5517769" y="1892173"/>
                  </a:cubicBezTo>
                  <a:lnTo>
                    <a:pt x="5517769" y="115316"/>
                  </a:lnTo>
                  <a:cubicBezTo>
                    <a:pt x="5517769" y="65659"/>
                    <a:pt x="5477256" y="25400"/>
                    <a:pt x="5426964" y="25400"/>
                  </a:cubicBezTo>
                  <a:lnTo>
                    <a:pt x="116205" y="25400"/>
                  </a:lnTo>
                  <a:lnTo>
                    <a:pt x="116205" y="12700"/>
                  </a:lnTo>
                  <a:lnTo>
                    <a:pt x="116205" y="25400"/>
                  </a:lnTo>
                  <a:cubicBezTo>
                    <a:pt x="65913" y="25400"/>
                    <a:pt x="25400" y="65786"/>
                    <a:pt x="25400" y="115316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277100" y="7015610"/>
            <a:ext cx="2291953" cy="3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Clinical Mentorship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277100" y="7373245"/>
            <a:ext cx="3733505" cy="74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Expert guidance on clinical safety design, crisis protocols, and therapeutic best practices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321948" y="6822729"/>
            <a:ext cx="4157510" cy="1505693"/>
            <a:chOff x="0" y="0"/>
            <a:chExt cx="5543347" cy="20075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5517896" cy="1982089"/>
            </a:xfrm>
            <a:custGeom>
              <a:avLst/>
              <a:gdLst/>
              <a:ahLst/>
              <a:cxnLst/>
              <a:rect r="r" b="b" t="t" l="l"/>
              <a:pathLst>
                <a:path h="1982089" w="5517896">
                  <a:moveTo>
                    <a:pt x="0" y="102616"/>
                  </a:moveTo>
                  <a:cubicBezTo>
                    <a:pt x="0" y="45974"/>
                    <a:pt x="46355" y="0"/>
                    <a:pt x="103505" y="0"/>
                  </a:cubicBezTo>
                  <a:lnTo>
                    <a:pt x="5414391" y="0"/>
                  </a:lnTo>
                  <a:cubicBezTo>
                    <a:pt x="5471541" y="0"/>
                    <a:pt x="5517896" y="45974"/>
                    <a:pt x="5517896" y="102616"/>
                  </a:cubicBezTo>
                  <a:lnTo>
                    <a:pt x="5517896" y="1879473"/>
                  </a:lnTo>
                  <a:cubicBezTo>
                    <a:pt x="5517896" y="1936242"/>
                    <a:pt x="5471541" y="1982089"/>
                    <a:pt x="5414391" y="1982089"/>
                  </a:cubicBezTo>
                  <a:lnTo>
                    <a:pt x="103505" y="1982089"/>
                  </a:lnTo>
                  <a:cubicBezTo>
                    <a:pt x="46355" y="1982089"/>
                    <a:pt x="0" y="1936115"/>
                    <a:pt x="0" y="18794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543296" cy="2007489"/>
            </a:xfrm>
            <a:custGeom>
              <a:avLst/>
              <a:gdLst/>
              <a:ahLst/>
              <a:cxnLst/>
              <a:rect r="r" b="b" t="t" l="l"/>
              <a:pathLst>
                <a:path h="2007489" w="5543296">
                  <a:moveTo>
                    <a:pt x="0" y="115316"/>
                  </a:moveTo>
                  <a:cubicBezTo>
                    <a:pt x="0" y="51562"/>
                    <a:pt x="52070" y="0"/>
                    <a:pt x="116205" y="0"/>
                  </a:cubicBezTo>
                  <a:lnTo>
                    <a:pt x="5427091" y="0"/>
                  </a:lnTo>
                  <a:lnTo>
                    <a:pt x="5427091" y="12700"/>
                  </a:lnTo>
                  <a:lnTo>
                    <a:pt x="5427091" y="0"/>
                  </a:lnTo>
                  <a:cubicBezTo>
                    <a:pt x="5491226" y="0"/>
                    <a:pt x="5543296" y="51562"/>
                    <a:pt x="5543296" y="115316"/>
                  </a:cubicBezTo>
                  <a:lnTo>
                    <a:pt x="5530596" y="115316"/>
                  </a:lnTo>
                  <a:lnTo>
                    <a:pt x="5543296" y="115316"/>
                  </a:lnTo>
                  <a:lnTo>
                    <a:pt x="5543296" y="1892173"/>
                  </a:lnTo>
                  <a:lnTo>
                    <a:pt x="5530596" y="1892173"/>
                  </a:lnTo>
                  <a:lnTo>
                    <a:pt x="5543296" y="1892173"/>
                  </a:lnTo>
                  <a:cubicBezTo>
                    <a:pt x="5543296" y="1956054"/>
                    <a:pt x="5491226" y="2007489"/>
                    <a:pt x="5427091" y="2007489"/>
                  </a:cubicBezTo>
                  <a:lnTo>
                    <a:pt x="5427091" y="1994789"/>
                  </a:lnTo>
                  <a:lnTo>
                    <a:pt x="5427091" y="2007489"/>
                  </a:lnTo>
                  <a:lnTo>
                    <a:pt x="116205" y="2007489"/>
                  </a:lnTo>
                  <a:lnTo>
                    <a:pt x="116205" y="1994789"/>
                  </a:lnTo>
                  <a:lnTo>
                    <a:pt x="116205" y="2007489"/>
                  </a:lnTo>
                  <a:cubicBezTo>
                    <a:pt x="52070" y="2007489"/>
                    <a:pt x="0" y="1955927"/>
                    <a:pt x="0" y="1892173"/>
                  </a:cubicBezTo>
                  <a:lnTo>
                    <a:pt x="0" y="115316"/>
                  </a:lnTo>
                  <a:lnTo>
                    <a:pt x="12700" y="115316"/>
                  </a:lnTo>
                  <a:lnTo>
                    <a:pt x="0" y="115316"/>
                  </a:lnTo>
                  <a:moveTo>
                    <a:pt x="25400" y="115316"/>
                  </a:moveTo>
                  <a:lnTo>
                    <a:pt x="25400" y="1892173"/>
                  </a:lnTo>
                  <a:lnTo>
                    <a:pt x="12700" y="1892173"/>
                  </a:lnTo>
                  <a:lnTo>
                    <a:pt x="25400" y="1892173"/>
                  </a:lnTo>
                  <a:cubicBezTo>
                    <a:pt x="25400" y="1941830"/>
                    <a:pt x="65913" y="1982089"/>
                    <a:pt x="116205" y="1982089"/>
                  </a:cubicBezTo>
                  <a:lnTo>
                    <a:pt x="5427091" y="1982089"/>
                  </a:lnTo>
                  <a:cubicBezTo>
                    <a:pt x="5477383" y="1982089"/>
                    <a:pt x="5517896" y="1941703"/>
                    <a:pt x="5517896" y="1892173"/>
                  </a:cubicBezTo>
                  <a:lnTo>
                    <a:pt x="5517896" y="115316"/>
                  </a:lnTo>
                  <a:cubicBezTo>
                    <a:pt x="5517896" y="65659"/>
                    <a:pt x="5477383" y="25400"/>
                    <a:pt x="5427091" y="25400"/>
                  </a:cubicBezTo>
                  <a:lnTo>
                    <a:pt x="116205" y="25400"/>
                  </a:lnTo>
                  <a:lnTo>
                    <a:pt x="116205" y="12700"/>
                  </a:lnTo>
                  <a:lnTo>
                    <a:pt x="116205" y="25400"/>
                  </a:lnTo>
                  <a:cubicBezTo>
                    <a:pt x="65913" y="25400"/>
                    <a:pt x="25400" y="65786"/>
                    <a:pt x="25400" y="115316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1533880" y="7015610"/>
            <a:ext cx="2291953" cy="3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Funding Support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533880" y="7373245"/>
            <a:ext cx="3733648" cy="74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Product hardening, deployment infrastructure, and scaling to production-ready standards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092948" y="8566547"/>
            <a:ext cx="12376995" cy="26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EmoSense turns emotional signals into timely, practical, and safer support—helping people feel heard when they need it most.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2817914" y="8452247"/>
            <a:ext cx="19050" cy="508102"/>
            <a:chOff x="0" y="0"/>
            <a:chExt cx="25400" cy="67746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400" cy="677418"/>
            </a:xfrm>
            <a:custGeom>
              <a:avLst/>
              <a:gdLst/>
              <a:ahLst/>
              <a:cxnLst/>
              <a:rect r="r" b="b" t="t" l="l"/>
              <a:pathLst>
                <a:path h="677418" w="25400">
                  <a:moveTo>
                    <a:pt x="0" y="0"/>
                  </a:moveTo>
                  <a:lnTo>
                    <a:pt x="25400" y="0"/>
                  </a:lnTo>
                  <a:lnTo>
                    <a:pt x="25400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DAHETODoRhQ</dc:identifier>
  <dcterms:modified xsi:type="dcterms:W3CDTF">2011-08-01T06:04:30Z</dcterms:modified>
  <cp:revision>1</cp:revision>
  <dc:title>EmoSense-Multimodal-Emotional-Intelligence-for-Everyday-Mental-Wellbeing.pptx</dc:title>
</cp:coreProperties>
</file>